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8497ee3aa4399" /><Relationship Type="http://schemas.openxmlformats.org/officeDocument/2006/relationships/extended-properties" Target="/docProps/app.xml" Id="R71d9fa1ff705450a" /><Relationship Type="http://schemas.openxmlformats.org/officeDocument/2006/relationships/officeDocument" Target="/ppt/presentation.xml" Id="R5e2baeeecdea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3332ebc23a4b0f"/>
  </p:sldMasterIdLst>
  <p:notesMasterIdLst>
    <p:notesMasterId xmlns:r="http://schemas.openxmlformats.org/officeDocument/2006/relationships" r:id="Re2aac1d5bedc453f"/>
  </p:notesMasterIdLst>
  <p:sldIdLst>
    <p:sldId xmlns:r="http://schemas.openxmlformats.org/officeDocument/2006/relationships" id="256" r:id="Raef153e8ea5041d3"/>
    <p:sldId xmlns:r="http://schemas.openxmlformats.org/officeDocument/2006/relationships" id="257" r:id="R4ecd3af82d4d4fde"/>
    <p:sldId xmlns:r="http://schemas.openxmlformats.org/officeDocument/2006/relationships" id="258" r:id="R12fd953041e04a64"/>
    <p:sldId xmlns:r="http://schemas.openxmlformats.org/officeDocument/2006/relationships" id="259" r:id="R8a0d10aa2ade4ebe"/>
    <p:sldId xmlns:r="http://schemas.openxmlformats.org/officeDocument/2006/relationships" id="260" r:id="R975197e9b664459c"/>
    <p:sldId xmlns:r="http://schemas.openxmlformats.org/officeDocument/2006/relationships" id="261" r:id="Rf91b6d749d3c47bf"/>
    <p:sldId xmlns:r="http://schemas.openxmlformats.org/officeDocument/2006/relationships" id="262" r:id="R13721ed203b44f1f"/>
    <p:sldId xmlns:r="http://schemas.openxmlformats.org/officeDocument/2006/relationships" id="263" r:id="R320fde59070241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5276018dfc4b0c" /><Relationship Type="http://schemas.openxmlformats.org/officeDocument/2006/relationships/slideMaster" Target="/ppt/slideMasters/slideMaster1.xml" Id="R173332ebc23a4b0f" /><Relationship Type="http://schemas.openxmlformats.org/officeDocument/2006/relationships/notesMaster" Target="/ppt/notesMasters/notesMaster1.xml" Id="Re2aac1d5bedc453f" /><Relationship Type="http://schemas.openxmlformats.org/officeDocument/2006/relationships/presProps" Target="/ppt/presProps.xml" Id="R121e41679a214497" /><Relationship Type="http://schemas.openxmlformats.org/officeDocument/2006/relationships/tableStyles" Target="/ppt/tableStyles.xml" Id="R39a45bc3de414fa7" /><Relationship Type="http://schemas.openxmlformats.org/officeDocument/2006/relationships/slide" Target="/ppt/slides/slide1.xml" Id="Raef153e8ea5041d3" /><Relationship Type="http://schemas.openxmlformats.org/officeDocument/2006/relationships/slide" Target="/ppt/slides/slide2.xml" Id="R4ecd3af82d4d4fde" /><Relationship Type="http://schemas.openxmlformats.org/officeDocument/2006/relationships/slide" Target="/ppt/slides/slide3.xml" Id="R12fd953041e04a64" /><Relationship Type="http://schemas.openxmlformats.org/officeDocument/2006/relationships/slide" Target="/ppt/slides/slide4.xml" Id="R8a0d10aa2ade4ebe" /><Relationship Type="http://schemas.openxmlformats.org/officeDocument/2006/relationships/slide" Target="/ppt/slides/slide5.xml" Id="R975197e9b664459c" /><Relationship Type="http://schemas.openxmlformats.org/officeDocument/2006/relationships/slide" Target="/ppt/slides/slide6.xml" Id="Rf91b6d749d3c47bf" /><Relationship Type="http://schemas.openxmlformats.org/officeDocument/2006/relationships/slide" Target="/ppt/slides/slide7.xml" Id="R13721ed203b44f1f" /><Relationship Type="http://schemas.openxmlformats.org/officeDocument/2006/relationships/slide" Target="/ppt/slides/slide8.xml" Id="R320fde59070241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f143b67bc1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3353c022646fc" /><Relationship Type="http://schemas.openxmlformats.org/officeDocument/2006/relationships/notesMaster" Target="/ppt/notesMasters/notesMaster1.xml" Id="R5519762cea1b4e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658e6f0534beb" /><Relationship Type="http://schemas.openxmlformats.org/officeDocument/2006/relationships/notesMaster" Target="/ppt/notesMasters/notesMaster1.xml" Id="Rc8a532b453f542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0e5b94b1624daa" /><Relationship Type="http://schemas.openxmlformats.org/officeDocument/2006/relationships/notesMaster" Target="/ppt/notesMasters/notesMaster1.xml" Id="R13c96cc783f44e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360289afa24059" /><Relationship Type="http://schemas.openxmlformats.org/officeDocument/2006/relationships/notesMaster" Target="/ppt/notesMasters/notesMaster1.xml" Id="R1a815addfebd4c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7445e1a6c34f24" /><Relationship Type="http://schemas.openxmlformats.org/officeDocument/2006/relationships/notesMaster" Target="/ppt/notesMasters/notesMaster1.xml" Id="R5b4192fe642b4b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4f92646b8e42b4" /><Relationship Type="http://schemas.openxmlformats.org/officeDocument/2006/relationships/notesMaster" Target="/ppt/notesMasters/notesMaster1.xml" Id="R2560ac148377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59bd7055034050" /><Relationship Type="http://schemas.openxmlformats.org/officeDocument/2006/relationships/notesMaster" Target="/ppt/notesMasters/notesMaster1.xml" Id="R25ba89fbf4b0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15470dff3b49a0" /><Relationship Type="http://schemas.openxmlformats.org/officeDocument/2006/relationships/notesMaster" Target="/ppt/notesMasters/notesMaster1.xml" Id="R4f19e5c1fcb7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</a:t>
            </a:r>
          </a:p>
          <a:p xmlns:a="http://schemas.openxmlformats.org/drawingml/2006/main">
            <a:r>
              <a:t>Apresente o nome Unsolved, a identidade investigativa e o slogan.</a:t>
            </a:r>
          </a:p>
          <a:p xmlns:a="http://schemas.openxmlformats.org/drawingml/2006/main">
            <a:r>
              <a:t>Explique em uma frase: é uma proposta acadêmica para organizar cold cases e conectar pistas dispersas.</a:t>
            </a:r>
          </a:p>
          <a:p xmlns:a="http://schemas.openxmlformats.org/drawingml/2006/main">
            <a:r>
              <a:t>Antecipe que a demonstração visual existe e que a prova técnica da entrega é o banco MySQL.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Comece pelo problema: a dificuldade não é apenas guardar arquivos, mas conectar fatos que aparecem em momentos diferentes.</a:t>
            </a:r>
          </a:p>
          <a:p xmlns:a="http://schemas.openxmlformats.org/drawingml/2006/main">
            <a:r>
              <a:t>Use o exemplo de um caso com mais de 20 anos que ganha nova análise de DNA ou uma testemunha recorrente.</a:t>
            </a:r>
          </a:p>
          <a:p xmlns:a="http://schemas.openxmlformats.org/drawingml/2006/main">
            <a:r>
              <a:t>Apresente o público principal: investigação, perícia e gestão; em contexto acadêmico, alunos e professores também podem usar a base como estudo.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Mostre que a tela é uma captura real do projeto, não um mockup criado para o slide.</a:t>
            </a:r>
          </a:p>
          <a:p xmlns:a="http://schemas.openxmlformats.org/drawingml/2006/main">
            <a:r>
              <a:t>Percorra as cinco funções: caso, pessoas por papel, evidências, linha do tempo/status e relatórios.</a:t>
            </a:r>
          </a:p>
          <a:p xmlns:a="http://schemas.openxmlformats.org/drawingml/2006/main">
            <a:r>
              <a:t>Se houver demo ao vivo, abra o painel e um detalhe de caso; se não houver, esta captura sustenta o storyboard.</a:t>
            </a:r>
          </a:p>
          <a:p xmlns:a="http://schemas.openxmlformats.org/drawingml/2006/main">
            <a:r>
              <a:t>Seja transparente: os números visíveis ainda vêm do serviço em memória.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Conte um fluxo curto: um caso é cadastrado; uma testemunha e um vestígio são ligados; uma consulta revela recorrência; o caso é reaberto.</a:t>
            </a:r>
          </a:p>
          <a:p xmlns:a="http://schemas.openxmlformats.org/drawingml/2006/main">
            <a:r>
              <a:t>Reforce que o valor está na associação entre as entidades, não em um formulário isolado.</a:t>
            </a:r>
          </a:p>
          <a:p xmlns:a="http://schemas.openxmlformats.org/drawingml/2006/main">
            <a:r>
              <a:t>O histórico de status evita perder a sequência de arquivamentos e reaberturas.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Apresente o diagrama como a solução técnica central.</a:t>
            </a:r>
          </a:p>
          <a:p xmlns:a="http://schemas.openxmlformats.org/drawingml/2006/main">
            <a:r>
              <a:t>Explique três decisões: pessoas são reutilizadas por papel; evidência pode ter várias perícias; status tem histórico próprio.</a:t>
            </a:r>
          </a:p>
          <a:p xmlns:a="http://schemas.openxmlformats.org/drawingml/2006/main">
            <a:r>
              <a:t>A idade é registrada no momento do fato ou depoimento, porque idade atual distorceria casos antigos.</a:t>
            </a:r>
          </a:p>
          <a:p xmlns:a="http://schemas.openxmlformats.org/drawingml/2006/main">
            <a:r>
              <a:t>O histórico de casos resolvidos do investigador é calculado a partir dos vínculos, não digitado como 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Destaque que as consultas não são apenas exemplos genéricos: a massa contém suspeito recorrente, testemunha recorrente, DNA e evidências recentes.</a:t>
            </a:r>
          </a:p>
          <a:p xmlns:a="http://schemas.openxmlformats.org/drawingml/2006/main">
            <a:r>
              <a:t>Cite as perguntas mais fortes: casos antigos, quantidade de evidências e recorrência entre casos.</a:t>
            </a:r>
          </a:p>
          <a:p xmlns:a="http://schemas.openxmlformats.org/drawingml/2006/main">
            <a:r>
              <a:t>Explique a ambiguidade do enunciado dos 20 anos: o arquivo SQL entrega as duas interpretações.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</a:t>
            </a:r>
          </a:p>
          <a:p xmlns:a="http://schemas.openxmlformats.org/drawingml/2006/main">
            <a:r>
              <a:t>Mostre que a entrega atual encerra a etapa acadêmica do banco, mas não finge que o painel já está persistindo dados.</a:t>
            </a:r>
          </a:p>
          <a:p xmlns:a="http://schemas.openxmlformats.org/drawingml/2006/main">
            <a:r>
              <a:t>O próximo sprint é técnico: EF Core, provedor MySQL, DbContext, migrations e troca do serviço em memória.</a:t>
            </a:r>
          </a:p>
          <a:p xmlns:a="http://schemas.openxmlformats.org/drawingml/2006/main">
            <a:r>
              <a:t>Antes de qualquer dado real, entram autenticação, autorização, auditoria, testes e backup.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>Feche retomando o slogan e a decisão desejada.</a:t>
            </a:r>
          </a:p>
          <a:p xmlns:a="http://schemas.openxmlformats.org/drawingml/2006/main">
            <a:r>
              <a:t>Peça três ações: aprovar o modelo, executar as consultas e iniciar a integração do painel com MySQL.</a:t>
            </a:r>
          </a:p>
          <a:p xmlns:a="http://schemas.openxmlformats.org/drawingml/2006/main">
            <a:r>
              <a:t>Convide para perguntas e, se houver tempo, abra o README ou o arquivo de consultas.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9ab40b64547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18dbeee184f20" /><Relationship Type="http://schemas.openxmlformats.org/officeDocument/2006/relationships/slideLayout" Target="/ppt/slideLayouts/slideLayout1.xml" Id="R10de500cf5e54f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e500cf5e54f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a9b4f3e304ce8" /><Relationship Type="http://schemas.openxmlformats.org/officeDocument/2006/relationships/image" Target="/ppt/media/image.png" Id="Rd78f349fd6764f84" /><Relationship Type="http://schemas.openxmlformats.org/officeDocument/2006/relationships/notesSlide" Target="/ppt/notesSlides/notesSlide1.xml" Id="R8d098b93f9f646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4f383c0754124" /><Relationship Type="http://schemas.openxmlformats.org/officeDocument/2006/relationships/notesSlide" Target="/ppt/notesSlides/notesSlide2.xml" Id="R74bb08426c5948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39315937b4be1" /><Relationship Type="http://schemas.openxmlformats.org/officeDocument/2006/relationships/image" Target="/ppt/media/image.jpeg" Id="Ra806efe3226e4d0d" /><Relationship Type="http://schemas.openxmlformats.org/officeDocument/2006/relationships/notesSlide" Target="/ppt/notesSlides/notesSlide3.xml" Id="Rc5e981676d24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2ccc779594899" /><Relationship Type="http://schemas.openxmlformats.org/officeDocument/2006/relationships/notesSlide" Target="/ppt/notesSlides/notesSlide4.xml" Id="Rad994950e8934a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c0e1ef32743d0" /><Relationship Type="http://schemas.openxmlformats.org/officeDocument/2006/relationships/image" Target="/ppt/media/image2.png" Id="R5224e9245c0c4e92" /><Relationship Type="http://schemas.openxmlformats.org/officeDocument/2006/relationships/image" Target="/ppt/media/image.svg" Id="R63d6b09289b4418c" /><Relationship Type="http://schemas.openxmlformats.org/officeDocument/2006/relationships/notesSlide" Target="/ppt/notesSlides/notesSlide5.xml" Id="R1c23ad924619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0d504e7fc48f4" /><Relationship Type="http://schemas.openxmlformats.org/officeDocument/2006/relationships/notesSlide" Target="/ppt/notesSlides/notesSlide6.xml" Id="Rce586d2c38ae41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061bee9c94ec3" /><Relationship Type="http://schemas.openxmlformats.org/officeDocument/2006/relationships/notesSlide" Target="/ppt/notesSlides/notesSlide7.xml" Id="R1436946330894d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07c9079a84225" /><Relationship Type="http://schemas.openxmlformats.org/officeDocument/2006/relationships/image" Target="/ppt/media/image3.png" Id="Re2475c2f4d7c41d6" /><Relationship Type="http://schemas.openxmlformats.org/officeDocument/2006/relationships/notesSlide" Target="/ppt/notesSlides/notesSlide8.xml" Id="R0df3bd85ba7d42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1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Os Estagiários apresentam">
            <a:extLst xmlns:a="http://schemas.openxmlformats.org/drawingml/2006/main">
              <a:ext uri="{FF2B5EF4-FFF2-40B4-BE49-F238E27FC236}">
                <a16:creationId xmlns:a16="http://schemas.microsoft.com/office/drawing/2014/main" id="{A471A2E6-2496-4873-BA02-E13C8C71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D86D"/>
                </a:solidFill>
              </a:defRPr>
            </a:pPr>
            <a:r>
              <a:rPr sz="1125" b="1">
                <a:solidFill>
                  <a:srgbClr val="F0D86D"/>
                </a:solidFill>
              </a:rPr>
              <a:t>OS ESTAGIÁRIOS APRESENTAM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7F2B8EF-4075-4868-A802-09203DE0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373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UNSOLVED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1AC203-9444-4BEE-BE55-16A57CF0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00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5CDDA"/>
                </a:solidFill>
              </a:defRPr>
            </a:pPr>
            <a:r>
              <a:rPr sz="1725" b="0">
                <a:solidFill>
                  <a:srgbClr val="B5CDDA"/>
                </a:solidFill>
              </a:rPr>
              <a:t>Sistema de gerenciamento de crimes não resolvidos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f349fd6764f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43050"/>
            <a:ext cx="10972800" cy="3657600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7FFF280-72F9-4738-ADF3-F1CDACE4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476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D86D"/>
          </a:solidFill>
          <a:ln xmlns:a="http://schemas.openxmlformats.org/drawingml/2006/main" w="0">
            <a:solidFill>
              <a:srgbClr val="F0D86D"/>
            </a:solidFill>
            <a:prstDash val="solid"/>
          </a:ln>
        </p:spPr>
      </p:sp>
      <p:sp>
        <p:nvSpPr>
          <p:cNvPr id="6" name="cover-slogan">
            <a:extLst xmlns:a="http://schemas.openxmlformats.org/drawingml/2006/main">
              <a:ext uri="{FF2B5EF4-FFF2-40B4-BE49-F238E27FC236}">
                <a16:creationId xmlns:a16="http://schemas.microsoft.com/office/drawing/2014/main" id="{8B284E94-F49D-4D41-BB89-9ACBE117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5E7"/>
                </a:solidFill>
              </a:defRPr>
            </a:pPr>
            <a:r>
              <a:rPr sz="2100" b="1">
                <a:solidFill>
                  <a:srgbClr val="F8F5E7"/>
                </a:solidFill>
              </a:rPr>
              <a:t>Pistas conectadas. Respostas possíveis.</a:t>
            </a:r>
          </a:p>
        </p:txBody>
      </p:sp>
      <p:sp>
        <p:nvSpPr>
          <p:cNvPr id="7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CC9C7335-F238-47F8-BCD6-8B7818F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8CE"/>
                </a:solidFill>
              </a:defRPr>
            </a:pPr>
            <a:r>
              <a:rPr sz="975" b="1">
                <a:solidFill>
                  <a:srgbClr val="EEE8CE"/>
                </a:solidFill>
              </a:rPr>
              <a:t>UNSOLVED  •  MYSQL 8</a:t>
            </a:r>
          </a:p>
        </p:txBody>
      </p:sp>
      <p:sp>
        <p:nvSpPr>
          <p:cNvPr id="8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79B24ED-1E11-4DE7-A632-FDA97531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EE8CE"/>
                </a:solidFill>
              </a:defRPr>
            </a:pPr>
            <a:r>
              <a:rPr sz="975" b="1">
                <a:solidFill>
                  <a:srgbClr val="EEE8C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9726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01  •  Problema e público">
            <a:extLst xmlns:a="http://schemas.openxmlformats.org/drawingml/2006/main">
              <a:ext uri="{FF2B5EF4-FFF2-40B4-BE49-F238E27FC236}">
                <a16:creationId xmlns:a16="http://schemas.microsoft.com/office/drawing/2014/main" id="{63230732-C3DE-4E83-82C8-FBA1ADB5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6220"/>
                </a:solidFill>
              </a:defRPr>
            </a:pPr>
            <a:r>
              <a:rPr sz="1125" b="1">
                <a:solidFill>
                  <a:srgbClr val="8B6220"/>
                </a:solidFill>
              </a:rPr>
              <a:t>01  •  PROBLEMA E PÚBLICO</a:t>
            </a:r>
          </a:p>
        </p:txBody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AFD6BF35-E494-4E19-8766-455C422A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23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1D12"/>
                </a:solidFill>
              </a:defRPr>
            </a:pPr>
            <a:r>
              <a:rPr sz="3000" b="1">
                <a:solidFill>
                  <a:srgbClr val="201D12"/>
                </a:solidFill>
              </a:rPr>
              <a:t>Casos esfriam quando as conexões se perdem</a:t>
            </a:r>
          </a:p>
        </p:txBody>
      </p:sp>
      <p:sp>
        <p:nvSpPr>
          <p:cNvPr id="3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83E0FD00-CC3B-4187-B163-A0295FE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F5E"/>
                </a:solidFill>
              </a:defRPr>
            </a:pPr>
            <a:r>
              <a:rPr sz="1725" b="0">
                <a:solidFill>
                  <a:srgbClr val="756F5E"/>
                </a:solidFill>
              </a:rPr>
              <a:t>Informações espalhadas entre relatórios, pessoas e evidências dificultam encontrar padrões, reabrir investigações e priorizar novas diligências.</a:t>
            </a:r>
          </a:p>
        </p:txBody>
      </p:sp>
      <p:sp>
        <p:nvSpPr>
          <p:cNvPr id="4" name="problem-stat-panel">
            <a:extLst xmlns:a="http://schemas.openxmlformats.org/drawingml/2006/main">
              <a:ext uri="{FF2B5EF4-FFF2-40B4-BE49-F238E27FC236}">
                <a16:creationId xmlns:a16="http://schemas.microsoft.com/office/drawing/2014/main" id="{D9DE7386-1C31-46A8-B45B-289AB08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914400"/>
            <a:ext cx="5448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01D12"/>
          </a:solidFill>
          <a:ln xmlns:a="http://schemas.openxmlformats.org/drawingml/2006/main" w="0">
            <a:solidFill>
              <a:srgbClr val="201D1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roblem-stat">
            <a:extLst xmlns:a="http://schemas.openxmlformats.org/drawingml/2006/main">
              <a:ext uri="{FF2B5EF4-FFF2-40B4-BE49-F238E27FC236}">
                <a16:creationId xmlns:a16="http://schemas.microsoft.com/office/drawing/2014/main" id="{68030F9E-78A2-452D-BB53-8A7A1879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001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0D86D"/>
                </a:solidFill>
              </a:defRPr>
            </a:pPr>
            <a:r>
              <a:rPr sz="5850" b="1">
                <a:solidFill>
                  <a:srgbClr val="F0D86D"/>
                </a:solidFill>
              </a:rPr>
              <a:t>20+</a:t>
            </a:r>
          </a:p>
        </p:txBody>
      </p:sp>
      <p:sp>
        <p:nvSpPr>
          <p:cNvPr id="6" name="problem-stat-label">
            <a:extLst xmlns:a="http://schemas.openxmlformats.org/drawingml/2006/main">
              <a:ext uri="{FF2B5EF4-FFF2-40B4-BE49-F238E27FC236}">
                <a16:creationId xmlns:a16="http://schemas.microsoft.com/office/drawing/2014/main" id="{DFA291AD-AB55-42AF-9B86-0867C5A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144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5E7"/>
                </a:solidFill>
              </a:defRPr>
            </a:pPr>
            <a:r>
              <a:rPr sz="1650" b="1">
                <a:solidFill>
                  <a:srgbClr val="F8F5E7"/>
                </a:solidFill>
              </a:rPr>
              <a:t>anos sem solução</a:t>
            </a:r>
          </a:p>
          <a:p xmlns:a="http://schemas.openxmlformats.org/drawingml/2006/main">
            <a:pPr algn="l">
              <a:defRPr sz="1650" b="1">
                <a:solidFill>
                  <a:srgbClr val="F8F5E7"/>
                </a:solidFill>
              </a:defRPr>
            </a:pPr>
            <a:r>
              <a:rPr sz="1650" b="1">
                <a:solidFill>
                  <a:srgbClr val="F8F5E7"/>
                </a:solidFill>
              </a:rPr>
              <a:t>ainda podem gerar novas relações</a:t>
            </a:r>
          </a:p>
        </p:txBody>
      </p:sp>
      <p:sp>
        <p:nvSpPr>
          <p:cNvPr id="7" name="audience-0">
            <a:extLst xmlns:a="http://schemas.openxmlformats.org/drawingml/2006/main">
              <a:ext uri="{FF2B5EF4-FFF2-40B4-BE49-F238E27FC236}">
                <a16:creationId xmlns:a16="http://schemas.microsoft.com/office/drawing/2014/main" id="{B03E6DE2-CF8D-4518-A319-CCF6C359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3528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E8CE"/>
          </a:solidFill>
          <a:ln xmlns:a="http://schemas.openxmlformats.org/drawingml/2006/main" w="9525">
            <a:solidFill>
              <a:srgbClr val="D8D0B5"/>
            </a:solidFill>
            <a:prstDash val="solid"/>
          </a:ln>
        </p:spPr>
      </p:sp>
      <p:sp>
        <p:nvSpPr>
          <p:cNvPr id="8" name="audience-index-0">
            <a:extLst xmlns:a="http://schemas.openxmlformats.org/drawingml/2006/main">
              <a:ext uri="{FF2B5EF4-FFF2-40B4-BE49-F238E27FC236}">
                <a16:creationId xmlns:a16="http://schemas.microsoft.com/office/drawing/2014/main" id="{56506DFB-8736-4872-87CE-73CEE331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6220"/>
                </a:solidFill>
              </a:defRPr>
            </a:pPr>
            <a:r>
              <a:rPr sz="1350" b="1">
                <a:solidFill>
                  <a:srgbClr val="8B6220"/>
                </a:solidFill>
              </a:rPr>
              <a:t>01</a:t>
            </a:r>
          </a:p>
        </p:txBody>
      </p:sp>
      <p:sp>
        <p:nvSpPr>
          <p:cNvPr id="9" name="audience-title-0">
            <a:extLst xmlns:a="http://schemas.openxmlformats.org/drawingml/2006/main">
              <a:ext uri="{FF2B5EF4-FFF2-40B4-BE49-F238E27FC236}">
                <a16:creationId xmlns:a16="http://schemas.microsoft.com/office/drawing/2014/main" id="{49AC7811-3D34-4A04-9D94-5971272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D12"/>
                </a:solidFill>
              </a:defRPr>
            </a:pPr>
            <a:r>
              <a:rPr sz="1500" b="1">
                <a:solidFill>
                  <a:srgbClr val="201D12"/>
                </a:solidFill>
              </a:rPr>
              <a:t>INVESTIGAÇÃO</a:t>
            </a:r>
          </a:p>
        </p:txBody>
      </p:sp>
      <p:sp>
        <p:nvSpPr>
          <p:cNvPr id="10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EA4590E1-03FB-4C23-B756-909AE632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D12"/>
                </a:solidFill>
              </a:defRPr>
            </a:pPr>
            <a:r>
              <a:rPr sz="1350" b="0">
                <a:solidFill>
                  <a:srgbClr val="201D12"/>
                </a:solidFill>
              </a:rPr>
              <a:t>Detetives e analistas que revisam casos antigos.</a:t>
            </a:r>
          </a:p>
        </p:txBody>
      </p:sp>
      <p:sp>
        <p:nvSpPr>
          <p:cNvPr id="11" name="audience-1">
            <a:extLst xmlns:a="http://schemas.openxmlformats.org/drawingml/2006/main">
              <a:ext uri="{FF2B5EF4-FFF2-40B4-BE49-F238E27FC236}">
                <a16:creationId xmlns:a16="http://schemas.microsoft.com/office/drawing/2014/main" id="{312C8B85-CCC2-4836-9935-7EF3128F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0000"/>
            <a:ext cx="33528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B5CDDA"/>
          </a:solidFill>
          <a:ln xmlns:a="http://schemas.openxmlformats.org/drawingml/2006/main" w="9525">
            <a:solidFill>
              <a:srgbClr val="B5CDDA"/>
            </a:solidFill>
            <a:prstDash val="solid"/>
          </a:ln>
        </p:spPr>
      </p:sp>
      <p:sp>
        <p:nvSpPr>
          <p:cNvPr id="12" name="audience-index-1">
            <a:extLst xmlns:a="http://schemas.openxmlformats.org/drawingml/2006/main">
              <a:ext uri="{FF2B5EF4-FFF2-40B4-BE49-F238E27FC236}">
                <a16:creationId xmlns:a16="http://schemas.microsoft.com/office/drawing/2014/main" id="{23D84D8C-C60A-43AA-B05C-CFDDB61B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6220"/>
                </a:solidFill>
              </a:defRPr>
            </a:pPr>
            <a:r>
              <a:rPr sz="1350" b="1">
                <a:solidFill>
                  <a:srgbClr val="8B6220"/>
                </a:solidFill>
              </a:rPr>
              <a:t>02</a:t>
            </a:r>
          </a:p>
        </p:txBody>
      </p:sp>
      <p:sp>
        <p:nvSpPr>
          <p:cNvPr id="13" name="audience-title-1">
            <a:extLst xmlns:a="http://schemas.openxmlformats.org/drawingml/2006/main">
              <a:ext uri="{FF2B5EF4-FFF2-40B4-BE49-F238E27FC236}">
                <a16:creationId xmlns:a16="http://schemas.microsoft.com/office/drawing/2014/main" id="{F7559A9C-BC27-4AB8-A4CD-EDC3C10F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D12"/>
                </a:solidFill>
              </a:defRPr>
            </a:pPr>
            <a:r>
              <a:rPr sz="1500" b="1">
                <a:solidFill>
                  <a:srgbClr val="201D12"/>
                </a:solidFill>
              </a:rPr>
              <a:t>PERÍCIA</a:t>
            </a:r>
          </a:p>
        </p:txBody>
      </p:sp>
      <p:sp>
        <p:nvSpPr>
          <p:cNvPr id="14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15724528-CE2B-4B88-812C-F502FBA8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D12"/>
                </a:solidFill>
              </a:defRPr>
            </a:pPr>
            <a:r>
              <a:rPr sz="1350" b="0">
                <a:solidFill>
                  <a:srgbClr val="201D12"/>
                </a:solidFill>
              </a:rPr>
              <a:t>Equipes que relacionam DNA, vestígios e laudos.</a:t>
            </a:r>
          </a:p>
        </p:txBody>
      </p:sp>
      <p:sp>
        <p:nvSpPr>
          <p:cNvPr id="15" name="audience-2">
            <a:extLst xmlns:a="http://schemas.openxmlformats.org/drawingml/2006/main">
              <a:ext uri="{FF2B5EF4-FFF2-40B4-BE49-F238E27FC236}">
                <a16:creationId xmlns:a16="http://schemas.microsoft.com/office/drawing/2014/main" id="{45032914-15C0-42D2-A38F-4966BD19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0000"/>
            <a:ext cx="33528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E8CE"/>
          </a:solidFill>
          <a:ln xmlns:a="http://schemas.openxmlformats.org/drawingml/2006/main" w="9525">
            <a:solidFill>
              <a:srgbClr val="D8D0B5"/>
            </a:solidFill>
            <a:prstDash val="solid"/>
          </a:ln>
        </p:spPr>
      </p:sp>
      <p:sp>
        <p:nvSpPr>
          <p:cNvPr id="16" name="audience-index-2">
            <a:extLst xmlns:a="http://schemas.openxmlformats.org/drawingml/2006/main">
              <a:ext uri="{FF2B5EF4-FFF2-40B4-BE49-F238E27FC236}">
                <a16:creationId xmlns:a16="http://schemas.microsoft.com/office/drawing/2014/main" id="{7B976645-5F1E-4824-9E9F-C4ED5471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6220"/>
                </a:solidFill>
              </a:defRPr>
            </a:pPr>
            <a:r>
              <a:rPr sz="1350" b="1">
                <a:solidFill>
                  <a:srgbClr val="8B6220"/>
                </a:solidFill>
              </a:rPr>
              <a:t>03</a:t>
            </a:r>
          </a:p>
        </p:txBody>
      </p:sp>
      <p:sp>
        <p:nvSpPr>
          <p:cNvPr id="17" name="audience-title-2">
            <a:extLst xmlns:a="http://schemas.openxmlformats.org/drawingml/2006/main">
              <a:ext uri="{FF2B5EF4-FFF2-40B4-BE49-F238E27FC236}">
                <a16:creationId xmlns:a16="http://schemas.microsoft.com/office/drawing/2014/main" id="{DE74F6BA-AD66-4A75-BC76-B6A39913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D12"/>
                </a:solidFill>
              </a:defRPr>
            </a:pPr>
            <a:r>
              <a:rPr sz="1500" b="1">
                <a:solidFill>
                  <a:srgbClr val="201D12"/>
                </a:solidFill>
              </a:rPr>
              <a:t>GESTÃO</a:t>
            </a:r>
          </a:p>
        </p:txBody>
      </p:sp>
      <p:sp>
        <p:nvSpPr>
          <p:cNvPr id="18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326C4AA6-1547-4CF8-AEA8-C16EA5E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D12"/>
                </a:solidFill>
              </a:defRPr>
            </a:pPr>
            <a:r>
              <a:rPr sz="1350" b="0">
                <a:solidFill>
                  <a:srgbClr val="201D12"/>
                </a:solidFill>
              </a:rPr>
              <a:t>Supervisores que precisam priorizar casos e recursos.</a:t>
            </a:r>
          </a:p>
        </p:txBody>
      </p:sp>
      <p:sp>
        <p:nvSpPr>
          <p:cNvPr id="19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5691A30C-998A-4912-B979-99043947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UNSOLVED  •  MYSQL 8</a:t>
            </a:r>
          </a:p>
        </p:txBody>
      </p:sp>
      <p:sp>
        <p:nvSpPr>
          <p:cNvPr id="2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4EFC22B-E049-46C1-AB2A-DD71B0F0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2088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02  •  Solução">
            <a:extLst xmlns:a="http://schemas.openxmlformats.org/drawingml/2006/main">
              <a:ext uri="{FF2B5EF4-FFF2-40B4-BE49-F238E27FC236}">
                <a16:creationId xmlns:a16="http://schemas.microsoft.com/office/drawing/2014/main" id="{ADA8CAB2-790A-4273-B8A3-0AF630AD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6220"/>
                </a:solidFill>
              </a:defRPr>
            </a:pPr>
            <a:r>
              <a:rPr sz="1125" b="1">
                <a:solidFill>
                  <a:srgbClr val="8B6220"/>
                </a:solidFill>
              </a:rPr>
              <a:t>02  •  SOLUÇÃO</a:t>
            </a:r>
          </a:p>
        </p:txBody>
      </p:sp>
      <p:sp>
        <p:nvSpPr>
          <p:cNvPr id="2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9A7716F-3E90-4BBE-88C7-CD759301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1D12"/>
                </a:solidFill>
              </a:defRPr>
            </a:pPr>
            <a:r>
              <a:rPr sz="3150" b="1">
                <a:solidFill>
                  <a:srgbClr val="201D12"/>
                </a:solidFill>
              </a:rPr>
              <a:t>Uma visão única do caso</a:t>
            </a:r>
          </a:p>
        </p:txBody>
      </p:sp>
      <p:sp>
        <p:nvSpPr>
          <p:cNvPr id="3" name="solution-subtitle">
            <a:extLst xmlns:a="http://schemas.openxmlformats.org/drawingml/2006/main">
              <a:ext uri="{FF2B5EF4-FFF2-40B4-BE49-F238E27FC236}">
                <a16:creationId xmlns:a16="http://schemas.microsoft.com/office/drawing/2014/main" id="{1C8ADB58-8B1A-4BC7-B6E8-76C7A98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2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56F5E"/>
                </a:solidFill>
              </a:defRPr>
            </a:pPr>
            <a:r>
              <a:rPr sz="1650" b="0">
                <a:solidFill>
                  <a:srgbClr val="756F5E"/>
                </a:solidFill>
              </a:rPr>
              <a:t>O protótipo transforma o dossiê em um fluxo navegável.</a:t>
            </a:r>
          </a:p>
        </p:txBody>
      </p:sp>
      <p:sp>
        <p:nvSpPr>
          <p:cNvPr id="4" name="feature-dot-0">
            <a:extLst xmlns:a="http://schemas.openxmlformats.org/drawingml/2006/main">
              <a:ext uri="{FF2B5EF4-FFF2-40B4-BE49-F238E27FC236}">
                <a16:creationId xmlns:a16="http://schemas.microsoft.com/office/drawing/2014/main" id="{C770C931-F2D8-4CB1-AB3D-6C5F3D7D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D12"/>
          </a:solidFill>
          <a:ln xmlns:a="http://schemas.openxmlformats.org/drawingml/2006/main" w="9525">
            <a:solidFill>
              <a:srgbClr val="201D12"/>
            </a:solidFill>
            <a:prstDash val="solid"/>
          </a:ln>
        </p:spPr>
      </p:sp>
      <p:sp>
        <p:nvSpPr>
          <p:cNvPr id="5" name="feature-number-0">
            <a:extLst xmlns:a="http://schemas.openxmlformats.org/drawingml/2006/main">
              <a:ext uri="{FF2B5EF4-FFF2-40B4-BE49-F238E27FC236}">
                <a16:creationId xmlns:a16="http://schemas.microsoft.com/office/drawing/2014/main" id="{C06FF693-8849-49B7-ACCF-CB2E3290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5E7"/>
                </a:solidFill>
              </a:defRPr>
            </a:pPr>
            <a:r>
              <a:rPr sz="1200" b="1">
                <a:solidFill>
                  <a:srgbClr val="F8F5E7"/>
                </a:solidFill>
              </a:rPr>
              <a:t>1</a:t>
            </a:r>
          </a:p>
        </p:txBody>
      </p:sp>
      <p:sp>
        <p:nvSpPr>
          <p:cNvPr id="6" name="feature-text-0">
            <a:extLst xmlns:a="http://schemas.openxmlformats.org/drawingml/2006/main">
              <a:ext uri="{FF2B5EF4-FFF2-40B4-BE49-F238E27FC236}">
                <a16:creationId xmlns:a16="http://schemas.microsoft.com/office/drawing/2014/main" id="{BBCB5C6B-8CB0-4C85-87F6-9633D20F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0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D12"/>
                </a:solidFill>
              </a:defRPr>
            </a:pPr>
            <a:r>
              <a:rPr sz="1500" b="0">
                <a:solidFill>
                  <a:srgbClr val="201D12"/>
                </a:solidFill>
              </a:rPr>
              <a:t>Cadastro e status do caso</a:t>
            </a:r>
          </a:p>
        </p:txBody>
      </p:sp>
      <p:sp>
        <p:nvSpPr>
          <p:cNvPr id="7" name="feature-dot-1">
            <a:extLst xmlns:a="http://schemas.openxmlformats.org/drawingml/2006/main">
              <a:ext uri="{FF2B5EF4-FFF2-40B4-BE49-F238E27FC236}">
                <a16:creationId xmlns:a16="http://schemas.microsoft.com/office/drawing/2014/main" id="{7A2E2D96-9007-4841-99E8-88760602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D12"/>
          </a:solidFill>
          <a:ln xmlns:a="http://schemas.openxmlformats.org/drawingml/2006/main" w="9525">
            <a:solidFill>
              <a:srgbClr val="201D12"/>
            </a:solidFill>
            <a:prstDash val="solid"/>
          </a:ln>
        </p:spPr>
      </p:sp>
      <p:sp>
        <p:nvSpPr>
          <p:cNvPr id="8" name="feature-number-1">
            <a:extLst xmlns:a="http://schemas.openxmlformats.org/drawingml/2006/main">
              <a:ext uri="{FF2B5EF4-FFF2-40B4-BE49-F238E27FC236}">
                <a16:creationId xmlns:a16="http://schemas.microsoft.com/office/drawing/2014/main" id="{789C6A96-817B-4BD9-9717-DE3D2DE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5E7"/>
                </a:solidFill>
              </a:defRPr>
            </a:pPr>
            <a:r>
              <a:rPr sz="1200" b="1">
                <a:solidFill>
                  <a:srgbClr val="F8F5E7"/>
                </a:solidFill>
              </a:rPr>
              <a:t>2</a:t>
            </a:r>
          </a:p>
        </p:txBody>
      </p:sp>
      <p:sp>
        <p:nvSpPr>
          <p:cNvPr id="9" name="feature-text-1">
            <a:extLst xmlns:a="http://schemas.openxmlformats.org/drawingml/2006/main">
              <a:ext uri="{FF2B5EF4-FFF2-40B4-BE49-F238E27FC236}">
                <a16:creationId xmlns:a16="http://schemas.microsoft.com/office/drawing/2014/main" id="{41F4304D-723F-4109-8B03-37407F6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D12"/>
                </a:solidFill>
              </a:defRPr>
            </a:pPr>
            <a:r>
              <a:rPr sz="1500" b="0">
                <a:solidFill>
                  <a:srgbClr val="201D12"/>
                </a:solidFill>
              </a:rPr>
              <a:t>Vítimas, suspeitos e testemunhas</a:t>
            </a:r>
          </a:p>
        </p:txBody>
      </p:sp>
      <p:sp>
        <p:nvSpPr>
          <p:cNvPr id="10" name="feature-dot-2">
            <a:extLst xmlns:a="http://schemas.openxmlformats.org/drawingml/2006/main">
              <a:ext uri="{FF2B5EF4-FFF2-40B4-BE49-F238E27FC236}">
                <a16:creationId xmlns:a16="http://schemas.microsoft.com/office/drawing/2014/main" id="{CA6044EA-1F15-492F-8B10-AA5EA88A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D12"/>
          </a:solidFill>
          <a:ln xmlns:a="http://schemas.openxmlformats.org/drawingml/2006/main" w="9525">
            <a:solidFill>
              <a:srgbClr val="201D12"/>
            </a:solidFill>
            <a:prstDash val="solid"/>
          </a:ln>
        </p:spPr>
      </p:sp>
      <p:sp>
        <p:nvSpPr>
          <p:cNvPr id="11" name="feature-number-2">
            <a:extLst xmlns:a="http://schemas.openxmlformats.org/drawingml/2006/main">
              <a:ext uri="{FF2B5EF4-FFF2-40B4-BE49-F238E27FC236}">
                <a16:creationId xmlns:a16="http://schemas.microsoft.com/office/drawing/2014/main" id="{3CCF186C-F9B3-4AEF-B35E-74D564DC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5E7"/>
                </a:solidFill>
              </a:defRPr>
            </a:pPr>
            <a:r>
              <a:rPr sz="1200" b="1">
                <a:solidFill>
                  <a:srgbClr val="F8F5E7"/>
                </a:solidFill>
              </a:rPr>
              <a:t>3</a:t>
            </a:r>
          </a:p>
        </p:txBody>
      </p:sp>
      <p:sp>
        <p:nvSpPr>
          <p:cNvPr id="12" name="feature-text-2">
            <a:extLst xmlns:a="http://schemas.openxmlformats.org/drawingml/2006/main">
              <a:ext uri="{FF2B5EF4-FFF2-40B4-BE49-F238E27FC236}">
                <a16:creationId xmlns:a16="http://schemas.microsoft.com/office/drawing/2014/main" id="{5E264D1A-D1CF-4FE3-9179-8A7676DD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337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D12"/>
                </a:solidFill>
              </a:defRPr>
            </a:pPr>
            <a:r>
              <a:rPr sz="1500" b="0">
                <a:solidFill>
                  <a:srgbClr val="201D12"/>
                </a:solidFill>
              </a:rPr>
              <a:t>Evidências e análises periciais</a:t>
            </a:r>
          </a:p>
        </p:txBody>
      </p:sp>
      <p:sp>
        <p:nvSpPr>
          <p:cNvPr id="13" name="feature-dot-3">
            <a:extLst xmlns:a="http://schemas.openxmlformats.org/drawingml/2006/main">
              <a:ext uri="{FF2B5EF4-FFF2-40B4-BE49-F238E27FC236}">
                <a16:creationId xmlns:a16="http://schemas.microsoft.com/office/drawing/2014/main" id="{8C6875DE-7BA4-458E-A05E-9AE49E66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D12"/>
          </a:solidFill>
          <a:ln xmlns:a="http://schemas.openxmlformats.org/drawingml/2006/main" w="9525">
            <a:solidFill>
              <a:srgbClr val="201D12"/>
            </a:solidFill>
            <a:prstDash val="solid"/>
          </a:ln>
        </p:spPr>
      </p:sp>
      <p:sp>
        <p:nvSpPr>
          <p:cNvPr id="14" name="feature-number-3">
            <a:extLst xmlns:a="http://schemas.openxmlformats.org/drawingml/2006/main">
              <a:ext uri="{FF2B5EF4-FFF2-40B4-BE49-F238E27FC236}">
                <a16:creationId xmlns:a16="http://schemas.microsoft.com/office/drawing/2014/main" id="{F279A246-07C2-4660-BC42-9F551231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5E7"/>
                </a:solidFill>
              </a:defRPr>
            </a:pPr>
            <a:r>
              <a:rPr sz="1200" b="1">
                <a:solidFill>
                  <a:srgbClr val="F8F5E7"/>
                </a:solidFill>
              </a:rPr>
              <a:t>4</a:t>
            </a:r>
          </a:p>
        </p:txBody>
      </p:sp>
      <p:sp>
        <p:nvSpPr>
          <p:cNvPr id="15" name="feature-text-3">
            <a:extLst xmlns:a="http://schemas.openxmlformats.org/drawingml/2006/main">
              <a:ext uri="{FF2B5EF4-FFF2-40B4-BE49-F238E27FC236}">
                <a16:creationId xmlns:a16="http://schemas.microsoft.com/office/drawing/2014/main" id="{34B01723-E060-4D0D-BCBE-2C41396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005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D12"/>
                </a:solidFill>
              </a:defRPr>
            </a:pPr>
            <a:r>
              <a:rPr sz="1500" b="0">
                <a:solidFill>
                  <a:srgbClr val="201D12"/>
                </a:solidFill>
              </a:rPr>
              <a:t>Linha do tempo e reaberturas</a:t>
            </a:r>
          </a:p>
        </p:txBody>
      </p:sp>
      <p:sp>
        <p:nvSpPr>
          <p:cNvPr id="16" name="feature-dot-4">
            <a:extLst xmlns:a="http://schemas.openxmlformats.org/drawingml/2006/main">
              <a:ext uri="{FF2B5EF4-FFF2-40B4-BE49-F238E27FC236}">
                <a16:creationId xmlns:a16="http://schemas.microsoft.com/office/drawing/2014/main" id="{35A87853-225D-44E1-8B21-6ED28FEE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86D"/>
          </a:solidFill>
          <a:ln xmlns:a="http://schemas.openxmlformats.org/drawingml/2006/main" w="9525">
            <a:solidFill>
              <a:srgbClr val="F0D86D"/>
            </a:solidFill>
            <a:prstDash val="solid"/>
          </a:ln>
        </p:spPr>
      </p:sp>
      <p:sp>
        <p:nvSpPr>
          <p:cNvPr id="17" name="feature-number-4">
            <a:extLst xmlns:a="http://schemas.openxmlformats.org/drawingml/2006/main">
              <a:ext uri="{FF2B5EF4-FFF2-40B4-BE49-F238E27FC236}">
                <a16:creationId xmlns:a16="http://schemas.microsoft.com/office/drawing/2014/main" id="{7B9FEA87-35A5-4745-9047-0325850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1D12"/>
                </a:solidFill>
              </a:defRPr>
            </a:pPr>
            <a:r>
              <a:rPr sz="1200" b="1">
                <a:solidFill>
                  <a:srgbClr val="201D12"/>
                </a:solidFill>
              </a:rPr>
              <a:t>5</a:t>
            </a:r>
          </a:p>
        </p:txBody>
      </p:sp>
      <p:sp>
        <p:nvSpPr>
          <p:cNvPr id="18" name="feature-text-4">
            <a:extLst xmlns:a="http://schemas.openxmlformats.org/drawingml/2006/main">
              <a:ext uri="{FF2B5EF4-FFF2-40B4-BE49-F238E27FC236}">
                <a16:creationId xmlns:a16="http://schemas.microsoft.com/office/drawing/2014/main" id="{6D2ADBCB-50E2-40E2-916C-9E906DE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67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D12"/>
                </a:solidFill>
              </a:defRPr>
            </a:pPr>
            <a:r>
              <a:rPr sz="1500" b="1">
                <a:solidFill>
                  <a:srgbClr val="201D12"/>
                </a:solidFill>
              </a:rPr>
              <a:t>Relatórios e cruzamentos SQL</a:t>
            </a:r>
          </a:p>
        </p:txBody>
      </p:sp>
      <p:sp>
        <p:nvSpPr>
          <p:cNvPr id="19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0561B9DC-2A07-48A7-8A4A-4F547B0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23950"/>
            <a:ext cx="64008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01D12"/>
          </a:solidFill>
          <a:ln xmlns:a="http://schemas.openxmlformats.org/drawingml/2006/main" w="19050">
            <a:solidFill>
              <a:srgbClr val="8B6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6efe3226e4d0d"/>
          <a:srcRect xmlns:a="http://schemas.openxmlformats.org/drawingml/2006/main" l="10008" t="0" r="10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1238250"/>
            <a:ext cx="6172200" cy="4343400"/>
          </a:xfrm>
          <a:prstGeom xmlns:a="http://schemas.openxmlformats.org/drawingml/2006/main" prst="roundRect">
            <a:avLst>
              <a:gd name="adj" fmla="val 1754"/>
            </a:avLst>
          </a:prstGeom>
        </p:spPr>
      </p:pic>
      <p:sp>
        <p:nvSpPr>
          <p:cNvPr id="21" name="dashboard-caption">
            <a:extLst xmlns:a="http://schemas.openxmlformats.org/drawingml/2006/main">
              <a:ext uri="{FF2B5EF4-FFF2-40B4-BE49-F238E27FC236}">
                <a16:creationId xmlns:a16="http://schemas.microsoft.com/office/drawing/2014/main" id="{9425EA67-4B8E-4697-A229-0E0889A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829300"/>
            <a:ext cx="640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6220"/>
                </a:solidFill>
              </a:defRPr>
            </a:pPr>
            <a:r>
              <a:rPr sz="1050" b="1">
                <a:solidFill>
                  <a:srgbClr val="8B6220"/>
                </a:solidFill>
              </a:rPr>
              <a:t>CAPTURA REAL DA DEMONSTRAÇÃO  •  DADOS EM MEMÓRIA</a:t>
            </a:r>
          </a:p>
        </p:txBody>
      </p:sp>
      <p:sp>
        <p:nvSpPr>
          <p:cNvPr id="22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324D9AD0-6C42-4FF3-93EA-267B80D1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UNSOLVED  •  MYSQL 8</a:t>
            </a:r>
          </a:p>
        </p:txBody>
      </p:sp>
      <p:sp>
        <p:nvSpPr>
          <p:cNvPr id="2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D2359AE-998A-41A3-97CC-7FBB0EB1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0334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1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03  •  Storyboard">
            <a:extLst xmlns:a="http://schemas.openxmlformats.org/drawingml/2006/main">
              <a:ext uri="{FF2B5EF4-FFF2-40B4-BE49-F238E27FC236}">
                <a16:creationId xmlns:a16="http://schemas.microsoft.com/office/drawing/2014/main" id="{1F8886AC-EC0D-4CAA-97B7-F70D0CA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D86D"/>
                </a:solidFill>
              </a:defRPr>
            </a:pPr>
            <a:r>
              <a:rPr sz="1125" b="1">
                <a:solidFill>
                  <a:srgbClr val="F0D86D"/>
                </a:solidFill>
              </a:rPr>
              <a:t>03  •  STORYBOARD</a:t>
            </a:r>
          </a:p>
        </p:txBody>
      </p:sp>
      <p:sp>
        <p:nvSpPr>
          <p:cNvPr id="2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F2E45E8B-EC20-4671-AE58-4AE970F1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5E7"/>
                </a:solidFill>
              </a:defRPr>
            </a:pPr>
            <a:r>
              <a:rPr sz="3150" b="1">
                <a:solidFill>
                  <a:srgbClr val="F8F5E7"/>
                </a:solidFill>
              </a:rPr>
              <a:t>Do registro à nova diligência</a:t>
            </a:r>
          </a:p>
        </p:txBody>
      </p:sp>
      <p:sp>
        <p:nvSpPr>
          <p:cNvPr id="3" name="workflow-copy">
            <a:extLst xmlns:a="http://schemas.openxmlformats.org/drawingml/2006/main">
              <a:ext uri="{FF2B5EF4-FFF2-40B4-BE49-F238E27FC236}">
                <a16:creationId xmlns:a16="http://schemas.microsoft.com/office/drawing/2014/main" id="{9984B8DA-9DFE-4532-AC18-6D10EBC4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5CDDA"/>
                </a:solidFill>
              </a:defRPr>
            </a:pPr>
            <a:r>
              <a:rPr sz="1575" b="0">
                <a:solidFill>
                  <a:srgbClr val="B5CDDA"/>
                </a:solidFill>
              </a:rPr>
              <a:t>Quatro etapas simples preservam o contexto e tornam os vínculos consultáveis.</a:t>
            </a:r>
          </a:p>
        </p:txBody>
      </p:sp>
      <p:cxnSp>
        <p:nvCxnSpPr>
          <p:cNvPr id="28" name="workflow-line"/>
          <p:cNvCxnSpPr/>
          <p:nvPr/>
        </p:nvCxnSpPr>
        <p:spPr>
          <a:xfrm xmlns:a="http://schemas.openxmlformats.org/drawingml/2006/main">
            <a:off x="1123950" y="3009900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CDDA"/>
            </a:solidFill>
            <a:prstDash val="solid"/>
          </a:ln>
        </p:spPr>
      </p:cxnSp>
      <p:sp>
        <p:nvSpPr>
          <p:cNvPr id="5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A50A6384-19CF-4411-ADC0-75CBD5DC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E7"/>
          </a:solidFill>
          <a:ln xmlns:a="http://schemas.openxmlformats.org/drawingml/2006/main" w="9525">
            <a:solidFill>
              <a:srgbClr val="F8F5E7"/>
            </a:solidFill>
            <a:prstDash val="solid"/>
          </a:ln>
        </p:spPr>
      </p:sp>
      <p:sp>
        <p:nvSpPr>
          <p:cNvPr id="6" name="workflow-number-0">
            <a:extLst xmlns:a="http://schemas.openxmlformats.org/drawingml/2006/main">
              <a:ext uri="{FF2B5EF4-FFF2-40B4-BE49-F238E27FC236}">
                <a16:creationId xmlns:a16="http://schemas.microsoft.com/office/drawing/2014/main" id="{45D8926F-3CB5-469F-B349-A3D67F7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1D12"/>
                </a:solidFill>
              </a:defRPr>
            </a:pPr>
            <a:r>
              <a:rPr sz="1275" b="1">
                <a:solidFill>
                  <a:srgbClr val="201D12"/>
                </a:solidFill>
              </a:rPr>
              <a:t>01</a:t>
            </a:r>
          </a:p>
        </p:txBody>
      </p:sp>
      <p:sp>
        <p:nvSpPr>
          <p:cNvPr id="7" name="workflow-step-title-0">
            <a:extLst xmlns:a="http://schemas.openxmlformats.org/drawingml/2006/main">
              <a:ext uri="{FF2B5EF4-FFF2-40B4-BE49-F238E27FC236}">
                <a16:creationId xmlns:a16="http://schemas.microsoft.com/office/drawing/2014/main" id="{05F8B337-2D5B-4765-BE8B-E488A64E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5E7"/>
                </a:solidFill>
              </a:defRPr>
            </a:pPr>
            <a:r>
              <a:rPr sz="1500" b="1">
                <a:solidFill>
                  <a:srgbClr val="F8F5E7"/>
                </a:solidFill>
              </a:rPr>
              <a:t>CADASTRAR</a:t>
            </a:r>
          </a:p>
        </p:txBody>
      </p:sp>
      <p:sp>
        <p:nvSpPr>
          <p:cNvPr id="8" name="workflow-step-body-0">
            <a:extLst xmlns:a="http://schemas.openxmlformats.org/drawingml/2006/main">
              <a:ext uri="{FF2B5EF4-FFF2-40B4-BE49-F238E27FC236}">
                <a16:creationId xmlns:a16="http://schemas.microsoft.com/office/drawing/2014/main" id="{11DFB9BC-BE01-4809-B64B-D5CD163E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DDA"/>
                </a:solidFill>
              </a:defRPr>
            </a:pPr>
            <a:r>
              <a:rPr sz="1350" b="0">
                <a:solidFill>
                  <a:srgbClr val="B5CDDA"/>
                </a:solidFill>
              </a:rPr>
              <a:t>Identificar crime, data, cidade, prioridade e status.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11861D0-430F-4D63-AC44-E2D5E965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E7"/>
          </a:solidFill>
          <a:ln xmlns:a="http://schemas.openxmlformats.org/drawingml/2006/main" w="9525">
            <a:solidFill>
              <a:srgbClr val="F8F5E7"/>
            </a:solidFill>
            <a:prstDash val="solid"/>
          </a:ln>
        </p:spPr>
      </p:sp>
      <p:sp>
        <p:nvSpPr>
          <p:cNvPr id="10" name="workflow-number-1">
            <a:extLst xmlns:a="http://schemas.openxmlformats.org/drawingml/2006/main">
              <a:ext uri="{FF2B5EF4-FFF2-40B4-BE49-F238E27FC236}">
                <a16:creationId xmlns:a16="http://schemas.microsoft.com/office/drawing/2014/main" id="{8A403540-8C9E-4D32-B03E-DE6E3C1F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1D12"/>
                </a:solidFill>
              </a:defRPr>
            </a:pPr>
            <a:r>
              <a:rPr sz="1275" b="1">
                <a:solidFill>
                  <a:srgbClr val="201D12"/>
                </a:solidFill>
              </a:rPr>
              <a:t>02</a:t>
            </a:r>
          </a:p>
        </p:txBody>
      </p:sp>
      <p:sp>
        <p:nvSpPr>
          <p:cNvPr id="11" name="workflow-step-title-1">
            <a:extLst xmlns:a="http://schemas.openxmlformats.org/drawingml/2006/main">
              <a:ext uri="{FF2B5EF4-FFF2-40B4-BE49-F238E27FC236}">
                <a16:creationId xmlns:a16="http://schemas.microsoft.com/office/drawing/2014/main" id="{05F95653-FA64-415A-A70D-6D56255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00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5E7"/>
                </a:solidFill>
              </a:defRPr>
            </a:pPr>
            <a:r>
              <a:rPr sz="1500" b="1">
                <a:solidFill>
                  <a:srgbClr val="F8F5E7"/>
                </a:solidFill>
              </a:rPr>
              <a:t>RELACIONAR</a:t>
            </a:r>
          </a:p>
        </p:txBody>
      </p:sp>
      <p:sp>
        <p:nvSpPr>
          <p:cNvPr id="12" name="workflow-step-body-1">
            <a:extLst xmlns:a="http://schemas.openxmlformats.org/drawingml/2006/main">
              <a:ext uri="{FF2B5EF4-FFF2-40B4-BE49-F238E27FC236}">
                <a16:creationId xmlns:a16="http://schemas.microsoft.com/office/drawing/2014/main" id="{961B8C06-D1F3-4DF7-B1A9-424DB7C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DDA"/>
                </a:solidFill>
              </a:defRPr>
            </a:pPr>
            <a:r>
              <a:rPr sz="1350" b="0">
                <a:solidFill>
                  <a:srgbClr val="B5CDDA"/>
                </a:solidFill>
              </a:rPr>
              <a:t>Ligar pessoas, depoimentos, investigadores e evidências.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5B5A1B77-B19D-4909-B88D-77E679B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E7"/>
          </a:solidFill>
          <a:ln xmlns:a="http://schemas.openxmlformats.org/drawingml/2006/main" w="9525">
            <a:solidFill>
              <a:srgbClr val="F8F5E7"/>
            </a:solidFill>
            <a:prstDash val="solid"/>
          </a:ln>
        </p:spPr>
      </p:sp>
      <p:sp>
        <p:nvSpPr>
          <p:cNvPr id="14" name="workflow-number-2">
            <a:extLst xmlns:a="http://schemas.openxmlformats.org/drawingml/2006/main">
              <a:ext uri="{FF2B5EF4-FFF2-40B4-BE49-F238E27FC236}">
                <a16:creationId xmlns:a16="http://schemas.microsoft.com/office/drawing/2014/main" id="{1E5DE55B-8561-4853-887F-0E1ACE1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1D12"/>
                </a:solidFill>
              </a:defRPr>
            </a:pPr>
            <a:r>
              <a:rPr sz="1275" b="1">
                <a:solidFill>
                  <a:srgbClr val="201D12"/>
                </a:solidFill>
              </a:rPr>
              <a:t>03</a:t>
            </a:r>
          </a:p>
        </p:txBody>
      </p:sp>
      <p:sp>
        <p:nvSpPr>
          <p:cNvPr id="15" name="workflow-step-title-2">
            <a:extLst xmlns:a="http://schemas.openxmlformats.org/drawingml/2006/main">
              <a:ext uri="{FF2B5EF4-FFF2-40B4-BE49-F238E27FC236}">
                <a16:creationId xmlns:a16="http://schemas.microsoft.com/office/drawing/2014/main" id="{9891C3D5-C842-40F5-A527-3BA5690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5E7"/>
                </a:solidFill>
              </a:defRPr>
            </a:pPr>
            <a:r>
              <a:rPr sz="1500" b="1">
                <a:solidFill>
                  <a:srgbClr val="F8F5E7"/>
                </a:solidFill>
              </a:rPr>
              <a:t>CRUZAR</a:t>
            </a:r>
          </a:p>
        </p:txBody>
      </p:sp>
      <p:sp>
        <p:nvSpPr>
          <p:cNvPr id="16" name="workflow-step-body-2">
            <a:extLst xmlns:a="http://schemas.openxmlformats.org/drawingml/2006/main">
              <a:ext uri="{FF2B5EF4-FFF2-40B4-BE49-F238E27FC236}">
                <a16:creationId xmlns:a16="http://schemas.microsoft.com/office/drawing/2014/main" id="{239405D8-0C44-4382-9851-3ABA8EA1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DDA"/>
                </a:solidFill>
              </a:defRPr>
            </a:pPr>
            <a:r>
              <a:rPr sz="1350" b="0">
                <a:solidFill>
                  <a:srgbClr val="B5CDDA"/>
                </a:solidFill>
              </a:rPr>
              <a:t>Executar consultas por tempo, DNA, cidade ou recorrência.</a:t>
            </a:r>
          </a:p>
        </p:txBody>
      </p:sp>
      <p:sp>
        <p:nvSpPr>
          <p:cNvPr id="17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2625EF35-55EF-407E-9DDF-2DB94E0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86D"/>
          </a:solidFill>
          <a:ln xmlns:a="http://schemas.openxmlformats.org/drawingml/2006/main" w="9525">
            <a:solidFill>
              <a:srgbClr val="F0D86D"/>
            </a:solidFill>
            <a:prstDash val="solid"/>
          </a:ln>
        </p:spPr>
      </p:sp>
      <p:sp>
        <p:nvSpPr>
          <p:cNvPr id="18" name="workflow-number-3">
            <a:extLst xmlns:a="http://schemas.openxmlformats.org/drawingml/2006/main">
              <a:ext uri="{FF2B5EF4-FFF2-40B4-BE49-F238E27FC236}">
                <a16:creationId xmlns:a16="http://schemas.microsoft.com/office/drawing/2014/main" id="{2242B884-8838-402F-88F6-2AEE8CA3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1D12"/>
                </a:solidFill>
              </a:defRPr>
            </a:pPr>
            <a:r>
              <a:rPr sz="1275" b="1">
                <a:solidFill>
                  <a:srgbClr val="201D12"/>
                </a:solidFill>
              </a:rPr>
              <a:t>04</a:t>
            </a:r>
          </a:p>
        </p:txBody>
      </p:sp>
      <p:sp>
        <p:nvSpPr>
          <p:cNvPr id="19" name="workflow-step-title-3">
            <a:extLst xmlns:a="http://schemas.openxmlformats.org/drawingml/2006/main">
              <a:ext uri="{FF2B5EF4-FFF2-40B4-BE49-F238E27FC236}">
                <a16:creationId xmlns:a16="http://schemas.microsoft.com/office/drawing/2014/main" id="{CA65EE1C-3FBB-4914-B155-AD86381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D86D"/>
                </a:solidFill>
              </a:defRPr>
            </a:pPr>
            <a:r>
              <a:rPr sz="1500" b="1">
                <a:solidFill>
                  <a:srgbClr val="F0D86D"/>
                </a:solidFill>
              </a:rPr>
              <a:t>AGIR</a:t>
            </a:r>
          </a:p>
        </p:txBody>
      </p:sp>
      <p:sp>
        <p:nvSpPr>
          <p:cNvPr id="20" name="workflow-step-body-3">
            <a:extLst xmlns:a="http://schemas.openxmlformats.org/drawingml/2006/main">
              <a:ext uri="{FF2B5EF4-FFF2-40B4-BE49-F238E27FC236}">
                <a16:creationId xmlns:a16="http://schemas.microsoft.com/office/drawing/2014/main" id="{4F9D590B-7526-4514-AB4E-06C9E11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DDA"/>
                </a:solidFill>
              </a:defRPr>
            </a:pPr>
            <a:r>
              <a:rPr sz="1350" b="0">
                <a:solidFill>
                  <a:srgbClr val="B5CDDA"/>
                </a:solidFill>
              </a:rPr>
              <a:t>Reabrir, atribuir responsável e registrar a mudança de status.</a:t>
            </a:r>
          </a:p>
        </p:txBody>
      </p:sp>
      <p:sp>
        <p:nvSpPr>
          <p:cNvPr id="21" name="workflow-proof">
            <a:extLst xmlns:a="http://schemas.openxmlformats.org/drawingml/2006/main">
              <a:ext uri="{FF2B5EF4-FFF2-40B4-BE49-F238E27FC236}">
                <a16:creationId xmlns:a16="http://schemas.microsoft.com/office/drawing/2014/main" id="{5E511F23-1790-46E9-947D-BB91D15B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29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8B6220"/>
          </a:solidFill>
          <a:ln xmlns:a="http://schemas.openxmlformats.org/drawingml/2006/main" w="0">
            <a:solidFill>
              <a:srgbClr val="8B6220"/>
            </a:solidFill>
            <a:prstDash val="solid"/>
          </a:ln>
        </p:spPr>
      </p:sp>
      <p:sp>
        <p:nvSpPr>
          <p:cNvPr id="22" name="workflow-proof-text">
            <a:extLst xmlns:a="http://schemas.openxmlformats.org/drawingml/2006/main">
              <a:ext uri="{FF2B5EF4-FFF2-40B4-BE49-F238E27FC236}">
                <a16:creationId xmlns:a16="http://schemas.microsoft.com/office/drawing/2014/main" id="{90972C70-70E4-4C89-B5F7-A526F524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1500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Cada etapa deixa um relacionamento verificável no MySQL — sem depender de texto solto.</a:t>
            </a:r>
          </a:p>
        </p:txBody>
      </p:sp>
      <p:sp>
        <p:nvSpPr>
          <p:cNvPr id="23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B8A73431-5748-4E01-8C82-00C34C4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8CE"/>
                </a:solidFill>
              </a:defRPr>
            </a:pPr>
            <a:r>
              <a:rPr sz="975" b="1">
                <a:solidFill>
                  <a:srgbClr val="EEE8CE"/>
                </a:solidFill>
              </a:rPr>
              <a:t>UNSOLVED  •  MYSQL 8</a:t>
            </a:r>
          </a:p>
        </p:txBody>
      </p:sp>
      <p:sp>
        <p:nvSpPr>
          <p:cNvPr id="2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9BE8E91-AB69-4796-9606-1CA9A6CD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EE8CE"/>
                </a:solidFill>
              </a:defRPr>
            </a:pPr>
            <a:r>
              <a:rPr sz="975" b="1">
                <a:solidFill>
                  <a:srgbClr val="EEE8C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9469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04  •  Prova técnica">
            <a:extLst xmlns:a="http://schemas.openxmlformats.org/drawingml/2006/main">
              <a:ext uri="{FF2B5EF4-FFF2-40B4-BE49-F238E27FC236}">
                <a16:creationId xmlns:a16="http://schemas.microsoft.com/office/drawing/2014/main" id="{AC84236F-072E-4CCF-B642-FF8CEB8A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6220"/>
                </a:solidFill>
              </a:defRPr>
            </a:pPr>
            <a:r>
              <a:rPr sz="1125" b="1">
                <a:solidFill>
                  <a:srgbClr val="8B6220"/>
                </a:solidFill>
              </a:rPr>
              <a:t>04  •  PROVA TÉCNICA</a:t>
            </a:r>
          </a:p>
        </p:txBody>
      </p:sp>
      <p:sp>
        <p:nvSpPr>
          <p:cNvPr id="2" name="database-title">
            <a:extLst xmlns:a="http://schemas.openxmlformats.org/drawingml/2006/main">
              <a:ext uri="{FF2B5EF4-FFF2-40B4-BE49-F238E27FC236}">
                <a16:creationId xmlns:a16="http://schemas.microsoft.com/office/drawing/2014/main" id="{CCD86AAA-7E94-459A-89EE-39F25F4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38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1D12"/>
                </a:solidFill>
              </a:defRPr>
            </a:pPr>
            <a:r>
              <a:rPr sz="3150" b="1">
                <a:solidFill>
                  <a:srgbClr val="201D12"/>
                </a:solidFill>
              </a:rPr>
              <a:t>MySQL como estrutura da investigação</a:t>
            </a:r>
          </a:p>
        </p:txBody>
      </p:sp>
      <p:sp>
        <p:nvSpPr>
          <p:cNvPr id="3" name="database-copy">
            <a:extLst xmlns:a="http://schemas.openxmlformats.org/drawingml/2006/main">
              <a:ext uri="{FF2B5EF4-FFF2-40B4-BE49-F238E27FC236}">
                <a16:creationId xmlns:a16="http://schemas.microsoft.com/office/drawing/2014/main" id="{950D62C3-D2AA-47BE-B1B0-F23450DC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F5E"/>
                </a:solidFill>
              </a:defRPr>
            </a:pPr>
            <a:r>
              <a:rPr sz="1575" b="0">
                <a:solidFill>
                  <a:srgbClr val="756F5E"/>
                </a:solidFill>
              </a:rPr>
              <a:t>O banco separa identidade, papel no caso e evidência pericial — evitando duplicação e preservando histórico.</a:t>
            </a:r>
          </a:p>
        </p:txBody>
      </p:sp>
      <p:sp>
        <p:nvSpPr>
          <p:cNvPr id="4" name="db-principle-0">
            <a:extLst xmlns:a="http://schemas.openxmlformats.org/drawingml/2006/main">
              <a:ext uri="{FF2B5EF4-FFF2-40B4-BE49-F238E27FC236}">
                <a16:creationId xmlns:a16="http://schemas.microsoft.com/office/drawing/2014/main" id="{6999B519-25CF-4CED-A5AC-AD80EAB1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30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0D86D"/>
          </a:solidFill>
          <a:ln xmlns:a="http://schemas.openxmlformats.org/drawingml/2006/main" w="9525">
            <a:solidFill>
              <a:srgbClr val="F0D86D"/>
            </a:solidFill>
            <a:prstDash val="solid"/>
          </a:ln>
        </p:spPr>
      </p:sp>
      <p:sp>
        <p:nvSpPr>
          <p:cNvPr id="5" name="db-principle-stat-0">
            <a:extLst xmlns:a="http://schemas.openxmlformats.org/drawingml/2006/main">
              <a:ext uri="{FF2B5EF4-FFF2-40B4-BE49-F238E27FC236}">
                <a16:creationId xmlns:a16="http://schemas.microsoft.com/office/drawing/2014/main" id="{4D5B758D-9B6F-4F9D-A63F-F2198DA8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D12"/>
                </a:solidFill>
              </a:defRPr>
            </a:pPr>
            <a:r>
              <a:rPr sz="1350" b="1">
                <a:solidFill>
                  <a:srgbClr val="201D12"/>
                </a:solidFill>
              </a:rPr>
              <a:t>12</a:t>
            </a:r>
          </a:p>
        </p:txBody>
      </p:sp>
      <p:sp>
        <p:nvSpPr>
          <p:cNvPr id="6" name="db-principle-label-0">
            <a:extLst xmlns:a="http://schemas.openxmlformats.org/drawingml/2006/main">
              <a:ext uri="{FF2B5EF4-FFF2-40B4-BE49-F238E27FC236}">
                <a16:creationId xmlns:a16="http://schemas.microsoft.com/office/drawing/2014/main" id="{A7C9B56D-12CB-4422-B6EA-2B44B45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670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D12"/>
                </a:solidFill>
              </a:defRPr>
            </a:pPr>
            <a:r>
              <a:rPr sz="1350" b="0">
                <a:solidFill>
                  <a:srgbClr val="201D12"/>
                </a:solidFill>
              </a:rPr>
              <a:t>tabelas relacionais</a:t>
            </a:r>
          </a:p>
        </p:txBody>
      </p:sp>
      <p:sp>
        <p:nvSpPr>
          <p:cNvPr id="7" name="db-principle-1">
            <a:extLst xmlns:a="http://schemas.openxmlformats.org/drawingml/2006/main">
              <a:ext uri="{FF2B5EF4-FFF2-40B4-BE49-F238E27FC236}">
                <a16:creationId xmlns:a16="http://schemas.microsoft.com/office/drawing/2014/main" id="{23D76DB9-088B-4D3E-A6DB-C77FC2FC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30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E8CE"/>
          </a:solidFill>
          <a:ln xmlns:a="http://schemas.openxmlformats.org/drawingml/2006/main" w="9525">
            <a:solidFill>
              <a:srgbClr val="D8D0B5"/>
            </a:solidFill>
            <a:prstDash val="solid"/>
          </a:ln>
        </p:spPr>
      </p:sp>
      <p:sp>
        <p:nvSpPr>
          <p:cNvPr id="8" name="db-principle-stat-1">
            <a:extLst xmlns:a="http://schemas.openxmlformats.org/drawingml/2006/main">
              <a:ext uri="{FF2B5EF4-FFF2-40B4-BE49-F238E27FC236}">
                <a16:creationId xmlns:a16="http://schemas.microsoft.com/office/drawing/2014/main" id="{9EC3332E-7146-4AD8-8916-476EFDDA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D12"/>
                </a:solidFill>
              </a:defRPr>
            </a:pPr>
            <a:r>
              <a:rPr sz="1350" b="1">
                <a:solidFill>
                  <a:srgbClr val="201D12"/>
                </a:solidFill>
              </a:rPr>
              <a:t>03</a:t>
            </a:r>
          </a:p>
        </p:txBody>
      </p:sp>
      <p:sp>
        <p:nvSpPr>
          <p:cNvPr id="9" name="db-principle-label-1">
            <a:extLst xmlns:a="http://schemas.openxmlformats.org/drawingml/2006/main">
              <a:ext uri="{FF2B5EF4-FFF2-40B4-BE49-F238E27FC236}">
                <a16:creationId xmlns:a16="http://schemas.microsoft.com/office/drawing/2014/main" id="{F52917B5-D4EF-444B-B71D-FE443A00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147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D12"/>
                </a:solidFill>
              </a:defRPr>
            </a:pPr>
            <a:r>
              <a:rPr sz="1350" b="0">
                <a:solidFill>
                  <a:srgbClr val="201D12"/>
                </a:solidFill>
              </a:rPr>
              <a:t>views para relatórios</a:t>
            </a:r>
          </a:p>
        </p:txBody>
      </p:sp>
      <p:sp>
        <p:nvSpPr>
          <p:cNvPr id="10" name="db-principle-2">
            <a:extLst xmlns:a="http://schemas.openxmlformats.org/drawingml/2006/main">
              <a:ext uri="{FF2B5EF4-FFF2-40B4-BE49-F238E27FC236}">
                <a16:creationId xmlns:a16="http://schemas.microsoft.com/office/drawing/2014/main" id="{FB5C491C-F1D6-474A-9EED-1E03323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30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E8CE"/>
          </a:solidFill>
          <a:ln xmlns:a="http://schemas.openxmlformats.org/drawingml/2006/main" w="9525">
            <a:solidFill>
              <a:srgbClr val="D8D0B5"/>
            </a:solidFill>
            <a:prstDash val="solid"/>
          </a:ln>
        </p:spPr>
      </p:sp>
      <p:sp>
        <p:nvSpPr>
          <p:cNvPr id="11" name="db-principle-stat-2">
            <a:extLst xmlns:a="http://schemas.openxmlformats.org/drawingml/2006/main">
              <a:ext uri="{FF2B5EF4-FFF2-40B4-BE49-F238E27FC236}">
                <a16:creationId xmlns:a16="http://schemas.microsoft.com/office/drawing/2014/main" id="{635B85BE-D1F8-4A24-8B4A-28E0905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D12"/>
                </a:solidFill>
              </a:defRPr>
            </a:pPr>
            <a:r>
              <a:rPr sz="1350" b="1">
                <a:solidFill>
                  <a:srgbClr val="201D12"/>
                </a:solidFill>
              </a:rPr>
              <a:t>FK</a:t>
            </a:r>
          </a:p>
        </p:txBody>
      </p:sp>
      <p:sp>
        <p:nvSpPr>
          <p:cNvPr id="12" name="db-principle-label-2">
            <a:extLst xmlns:a="http://schemas.openxmlformats.org/drawingml/2006/main">
              <a:ext uri="{FF2B5EF4-FFF2-40B4-BE49-F238E27FC236}">
                <a16:creationId xmlns:a16="http://schemas.microsoft.com/office/drawing/2014/main" id="{35BF3E6B-5DC0-45DD-BA1C-28B80FB9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624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D12"/>
                </a:solidFill>
              </a:defRPr>
            </a:pPr>
            <a:r>
              <a:rPr sz="1350" b="0">
                <a:solidFill>
                  <a:srgbClr val="201D12"/>
                </a:solidFill>
              </a:rPr>
              <a:t>integridade entre entidades</a:t>
            </a:r>
          </a:p>
        </p:txBody>
      </p:sp>
      <p:sp>
        <p:nvSpPr>
          <p:cNvPr id="13" name="db-principle-3">
            <a:extLst xmlns:a="http://schemas.openxmlformats.org/drawingml/2006/main">
              <a:ext uri="{FF2B5EF4-FFF2-40B4-BE49-F238E27FC236}">
                <a16:creationId xmlns:a16="http://schemas.microsoft.com/office/drawing/2014/main" id="{CF789D0E-BC31-46D9-8437-830F71F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30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E8CE"/>
          </a:solidFill>
          <a:ln xmlns:a="http://schemas.openxmlformats.org/drawingml/2006/main" w="9525">
            <a:solidFill>
              <a:srgbClr val="D8D0B5"/>
            </a:solidFill>
            <a:prstDash val="solid"/>
          </a:ln>
        </p:spPr>
      </p:sp>
      <p:sp>
        <p:nvSpPr>
          <p:cNvPr id="14" name="db-principle-stat-3">
            <a:extLst xmlns:a="http://schemas.openxmlformats.org/drawingml/2006/main">
              <a:ext uri="{FF2B5EF4-FFF2-40B4-BE49-F238E27FC236}">
                <a16:creationId xmlns:a16="http://schemas.microsoft.com/office/drawing/2014/main" id="{E436CD5C-E02D-4873-AA0D-D477028B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D12"/>
                </a:solidFill>
              </a:defRPr>
            </a:pPr>
            <a:r>
              <a:rPr sz="1350" b="1">
                <a:solidFill>
                  <a:srgbClr val="201D12"/>
                </a:solidFill>
              </a:rPr>
              <a:t>HIST</a:t>
            </a:r>
          </a:p>
        </p:txBody>
      </p:sp>
      <p:sp>
        <p:nvSpPr>
          <p:cNvPr id="15" name="db-principle-label-3">
            <a:extLst xmlns:a="http://schemas.openxmlformats.org/drawingml/2006/main">
              <a:ext uri="{FF2B5EF4-FFF2-40B4-BE49-F238E27FC236}">
                <a16:creationId xmlns:a16="http://schemas.microsoft.com/office/drawing/2014/main" id="{16A6D482-0FE6-4653-8F5A-8B738EE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01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1D12"/>
                </a:solidFill>
              </a:defRPr>
            </a:pPr>
            <a:r>
              <a:rPr sz="1350" b="0">
                <a:solidFill>
                  <a:srgbClr val="201D12"/>
                </a:solidFill>
              </a:rPr>
              <a:t>arquivamento e reabertura</a:t>
            </a:r>
          </a:p>
        </p:txBody>
      </p:sp>
      <p:sp>
        <p:nvSpPr>
          <p:cNvPr id="16" name="erd-frame">
            <a:extLst xmlns:a="http://schemas.openxmlformats.org/drawingml/2006/main">
              <a:ext uri="{FF2B5EF4-FFF2-40B4-BE49-F238E27FC236}">
                <a16:creationId xmlns:a16="http://schemas.microsoft.com/office/drawing/2014/main" id="{FCE28109-34D9-4CAA-AA7A-A456E23D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990600"/>
            <a:ext cx="636270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201D12"/>
          </a:solidFill>
          <a:ln xmlns:a="http://schemas.openxmlformats.org/drawingml/2006/main" w="19050">
            <a:solidFill>
              <a:srgbClr val="8B6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4e9245c0c4e92">
            <a:extLst>
              <a:ext uri="{96DAC541-7B7A-43D3-8B79-37D633B846F1}">
                <asvg:svgBlip xmlns:asvg="http://schemas.microsoft.com/office/drawing/2016/SVG/main" r:embed="R63d6b09289b441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0" y="1104900"/>
            <a:ext cx="6134100" cy="4724400"/>
          </a:xfrm>
          <a:prstGeom xmlns:a="http://schemas.openxmlformats.org/drawingml/2006/main" prst="roundRect">
            <a:avLst>
              <a:gd name="adj" fmla="val 1613"/>
            </a:avLst>
          </a:prstGeom>
        </p:spPr>
      </p:pic>
      <p:sp>
        <p:nvSpPr>
          <p:cNvPr id="1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37B00C17-06F6-4C9E-9069-E5C0F96D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UNSOLVED  •  MYSQL 8</a:t>
            </a:r>
          </a:p>
        </p:txBody>
      </p:sp>
      <p:sp>
        <p:nvSpPr>
          <p:cNvPr id="19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4E5F0176-4A03-4A18-809D-AF9C66C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9407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05  •  Consultas e relatórios">
            <a:extLst xmlns:a="http://schemas.openxmlformats.org/drawingml/2006/main">
              <a:ext uri="{FF2B5EF4-FFF2-40B4-BE49-F238E27FC236}">
                <a16:creationId xmlns:a16="http://schemas.microsoft.com/office/drawing/2014/main" id="{BB962CE2-2C13-4DE3-9AE6-75AD7FD3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6220"/>
                </a:solidFill>
              </a:defRPr>
            </a:pPr>
            <a:r>
              <a:rPr sz="1125" b="1">
                <a:solidFill>
                  <a:srgbClr val="8B6220"/>
                </a:solidFill>
              </a:rPr>
              <a:t>05  •  CONSULTAS E RELATÓRIOS</a:t>
            </a:r>
          </a:p>
        </p:txBody>
      </p:sp>
      <p:sp>
        <p:nvSpPr>
          <p:cNvPr id="2" name="reports-title">
            <a:extLst xmlns:a="http://schemas.openxmlformats.org/drawingml/2006/main">
              <a:ext uri="{FF2B5EF4-FFF2-40B4-BE49-F238E27FC236}">
                <a16:creationId xmlns:a16="http://schemas.microsoft.com/office/drawing/2014/main" id="{DDC929D4-2766-4AB0-8CA0-D04B3703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1D12"/>
                </a:solidFill>
              </a:defRPr>
            </a:pPr>
            <a:r>
              <a:rPr sz="3150" b="1">
                <a:solidFill>
                  <a:srgbClr val="201D12"/>
                </a:solidFill>
              </a:rPr>
              <a:t>O banco responde perguntas investigativas</a:t>
            </a:r>
          </a:p>
        </p:txBody>
      </p:sp>
      <p:sp>
        <p:nvSpPr>
          <p:cNvPr id="3" name="reports-copy">
            <a:extLst xmlns:a="http://schemas.openxmlformats.org/drawingml/2006/main">
              <a:ext uri="{FF2B5EF4-FFF2-40B4-BE49-F238E27FC236}">
                <a16:creationId xmlns:a16="http://schemas.microsoft.com/office/drawing/2014/main" id="{B9A6605C-E3CE-4B1F-8B61-4F69AA9A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F5E"/>
                </a:solidFill>
              </a:defRPr>
            </a:pPr>
            <a:r>
              <a:rPr sz="1575" b="0">
                <a:solidFill>
                  <a:srgbClr val="756F5E"/>
                </a:solidFill>
              </a:rPr>
              <a:t>A carga fictícia foi desenhada para produzir resultados verificáveis em todas as consultas do exercício.</a:t>
            </a:r>
          </a:p>
        </p:txBody>
      </p:sp>
      <p:sp>
        <p:nvSpPr>
          <p:cNvPr id="4" name="report-stat-card-0">
            <a:extLst xmlns:a="http://schemas.openxmlformats.org/drawingml/2006/main">
              <a:ext uri="{FF2B5EF4-FFF2-40B4-BE49-F238E27FC236}">
                <a16:creationId xmlns:a16="http://schemas.microsoft.com/office/drawing/2014/main" id="{4F18B3F1-7151-4553-AEFA-3CB2BB3A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3528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0D86D"/>
          </a:solidFill>
          <a:ln xmlns:a="http://schemas.openxmlformats.org/drawingml/2006/main" w="9525">
            <a:solidFill>
              <a:srgbClr val="F0D86D"/>
            </a:solidFill>
            <a:prstDash val="solid"/>
          </a:ln>
        </p:spPr>
      </p:sp>
      <p:sp>
        <p:nvSpPr>
          <p:cNvPr id="5" name="report-stat-0">
            <a:extLst xmlns:a="http://schemas.openxmlformats.org/drawingml/2006/main">
              <a:ext uri="{FF2B5EF4-FFF2-40B4-BE49-F238E27FC236}">
                <a16:creationId xmlns:a16="http://schemas.microsoft.com/office/drawing/2014/main" id="{54ED537D-3208-4CF9-893B-B42A3A5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01D12"/>
                </a:solidFill>
              </a:defRPr>
            </a:pPr>
            <a:r>
              <a:rPr sz="4800" b="1">
                <a:solidFill>
                  <a:srgbClr val="201D12"/>
                </a:solidFill>
              </a:rPr>
              <a:t>10</a:t>
            </a:r>
          </a:p>
        </p:txBody>
      </p:sp>
      <p:sp>
        <p:nvSpPr>
          <p:cNvPr id="6" name="report-stat-label-0">
            <a:extLst xmlns:a="http://schemas.openxmlformats.org/drawingml/2006/main">
              <a:ext uri="{FF2B5EF4-FFF2-40B4-BE49-F238E27FC236}">
                <a16:creationId xmlns:a16="http://schemas.microsoft.com/office/drawing/2014/main" id="{E3749631-7FB8-4937-ADB2-646B6981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D12"/>
                </a:solidFill>
              </a:defRPr>
            </a:pPr>
            <a:r>
              <a:rPr sz="1500" b="1">
                <a:solidFill>
                  <a:srgbClr val="201D12"/>
                </a:solidFill>
              </a:rPr>
              <a:t>consultas obrigatórias</a:t>
            </a:r>
          </a:p>
        </p:txBody>
      </p:sp>
      <p:sp>
        <p:nvSpPr>
          <p:cNvPr id="7" name="report-stat-card-1">
            <a:extLst xmlns:a="http://schemas.openxmlformats.org/drawingml/2006/main">
              <a:ext uri="{FF2B5EF4-FFF2-40B4-BE49-F238E27FC236}">
                <a16:creationId xmlns:a16="http://schemas.microsoft.com/office/drawing/2014/main" id="{F1784181-3DB7-4E66-8D65-DEDEA2A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33528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B5CDDA"/>
          </a:solidFill>
          <a:ln xmlns:a="http://schemas.openxmlformats.org/drawingml/2006/main" w="9525">
            <a:solidFill>
              <a:srgbClr val="B5CDDA"/>
            </a:solidFill>
            <a:prstDash val="solid"/>
          </a:ln>
        </p:spPr>
      </p:sp>
      <p:sp>
        <p:nvSpPr>
          <p:cNvPr id="8" name="report-stat-1">
            <a:extLst xmlns:a="http://schemas.openxmlformats.org/drawingml/2006/main">
              <a:ext uri="{FF2B5EF4-FFF2-40B4-BE49-F238E27FC236}">
                <a16:creationId xmlns:a16="http://schemas.microsoft.com/office/drawing/2014/main" id="{5A655F7F-2A17-4D81-A3C3-5FC47D3B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01D12"/>
                </a:solidFill>
              </a:defRPr>
            </a:pPr>
            <a:r>
              <a:rPr sz="4800" b="1">
                <a:solidFill>
                  <a:srgbClr val="201D12"/>
                </a:solidFill>
              </a:rPr>
              <a:t>12</a:t>
            </a:r>
          </a:p>
        </p:txBody>
      </p:sp>
      <p:sp>
        <p:nvSpPr>
          <p:cNvPr id="9" name="report-stat-label-1">
            <a:extLst xmlns:a="http://schemas.openxmlformats.org/drawingml/2006/main">
              <a:ext uri="{FF2B5EF4-FFF2-40B4-BE49-F238E27FC236}">
                <a16:creationId xmlns:a16="http://schemas.microsoft.com/office/drawing/2014/main" id="{7E0D1BEA-9066-4EEB-8E42-2432EE24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D12"/>
                </a:solidFill>
              </a:defRPr>
            </a:pPr>
            <a:r>
              <a:rPr sz="1500" b="1">
                <a:solidFill>
                  <a:srgbClr val="201D12"/>
                </a:solidFill>
              </a:rPr>
              <a:t>casos fictícios</a:t>
            </a:r>
          </a:p>
        </p:txBody>
      </p:sp>
      <p:sp>
        <p:nvSpPr>
          <p:cNvPr id="10" name="report-stat-card-2">
            <a:extLst xmlns:a="http://schemas.openxmlformats.org/drawingml/2006/main">
              <a:ext uri="{FF2B5EF4-FFF2-40B4-BE49-F238E27FC236}">
                <a16:creationId xmlns:a16="http://schemas.microsoft.com/office/drawing/2014/main" id="{B0161ECF-4E49-4B3B-960F-344EF5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3528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EE8CE"/>
          </a:solidFill>
          <a:ln xmlns:a="http://schemas.openxmlformats.org/drawingml/2006/main" w="9525">
            <a:solidFill>
              <a:srgbClr val="D8D0B5"/>
            </a:solidFill>
            <a:prstDash val="solid"/>
          </a:ln>
        </p:spPr>
      </p:sp>
      <p:sp>
        <p:nvSpPr>
          <p:cNvPr id="11" name="report-stat-2">
            <a:extLst xmlns:a="http://schemas.openxmlformats.org/drawingml/2006/main">
              <a:ext uri="{FF2B5EF4-FFF2-40B4-BE49-F238E27FC236}">
                <a16:creationId xmlns:a16="http://schemas.microsoft.com/office/drawing/2014/main" id="{3C23DB81-46C7-4087-AF49-559B6D99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01D12"/>
                </a:solidFill>
              </a:defRPr>
            </a:pPr>
            <a:r>
              <a:rPr sz="4800" b="1">
                <a:solidFill>
                  <a:srgbClr val="201D12"/>
                </a:solidFill>
              </a:rPr>
              <a:t>03</a:t>
            </a:r>
          </a:p>
        </p:txBody>
      </p:sp>
      <p:sp>
        <p:nvSpPr>
          <p:cNvPr id="12" name="report-stat-label-2">
            <a:extLst xmlns:a="http://schemas.openxmlformats.org/drawingml/2006/main">
              <a:ext uri="{FF2B5EF4-FFF2-40B4-BE49-F238E27FC236}">
                <a16:creationId xmlns:a16="http://schemas.microsoft.com/office/drawing/2014/main" id="{682CD468-B00F-49E7-9E0F-94EFBE1F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D12"/>
                </a:solidFill>
              </a:defRPr>
            </a:pPr>
            <a:r>
              <a:rPr sz="1500" b="1">
                <a:solidFill>
                  <a:srgbClr val="201D12"/>
                </a:solidFill>
              </a:rPr>
              <a:t>relatórios centrais</a:t>
            </a:r>
          </a:p>
        </p:txBody>
      </p:sp>
      <p:sp>
        <p:nvSpPr>
          <p:cNvPr id="13" name="report-strip">
            <a:extLst xmlns:a="http://schemas.openxmlformats.org/drawingml/2006/main">
              <a:ext uri="{FF2B5EF4-FFF2-40B4-BE49-F238E27FC236}">
                <a16:creationId xmlns:a16="http://schemas.microsoft.com/office/drawing/2014/main" id="{9ACBCF1F-9BD1-4210-888B-94EAB5DB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01D12"/>
          </a:solidFill>
          <a:ln xmlns:a="http://schemas.openxmlformats.org/drawingml/2006/main" w="0">
            <a:solidFill>
              <a:srgbClr val="201D12"/>
            </a:solidFill>
            <a:prstDash val="solid"/>
          </a:ln>
        </p:spPr>
      </p:sp>
      <p:sp>
        <p:nvSpPr>
          <p:cNvPr id="14" name="report-name-0">
            <a:extLst xmlns:a="http://schemas.openxmlformats.org/drawingml/2006/main">
              <a:ext uri="{FF2B5EF4-FFF2-40B4-BE49-F238E27FC236}">
                <a16:creationId xmlns:a16="http://schemas.microsoft.com/office/drawing/2014/main" id="{A85EC581-E175-4638-A321-A9557186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D86D"/>
                </a:solidFill>
              </a:defRPr>
            </a:pPr>
            <a:r>
              <a:rPr sz="1200" b="1">
                <a:solidFill>
                  <a:srgbClr val="F0D86D"/>
                </a:solidFill>
              </a:rPr>
              <a:t>MAIS ANTIGOS</a:t>
            </a:r>
          </a:p>
        </p:txBody>
      </p:sp>
      <p:sp>
        <p:nvSpPr>
          <p:cNvPr id="15" name="report-description-0">
            <a:extLst xmlns:a="http://schemas.openxmlformats.org/drawingml/2006/main">
              <a:ext uri="{FF2B5EF4-FFF2-40B4-BE49-F238E27FC236}">
                <a16:creationId xmlns:a16="http://schemas.microsoft.com/office/drawing/2014/main" id="{34DE7741-47D1-464F-B1EE-21EC8CE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7"/>
                </a:solidFill>
              </a:defRPr>
            </a:pPr>
            <a:r>
              <a:rPr sz="1275" b="0">
                <a:solidFill>
                  <a:srgbClr val="F8F5E7"/>
                </a:solidFill>
              </a:rPr>
              <a:t>não resolvidos há mais de 20 anos</a:t>
            </a:r>
          </a:p>
        </p:txBody>
      </p:sp>
      <p:sp>
        <p:nvSpPr>
          <p:cNvPr id="16" name="report-name-1">
            <a:extLst xmlns:a="http://schemas.openxmlformats.org/drawingml/2006/main">
              <a:ext uri="{FF2B5EF4-FFF2-40B4-BE49-F238E27FC236}">
                <a16:creationId xmlns:a16="http://schemas.microsoft.com/office/drawing/2014/main" id="{43E09438-9B9A-4148-813E-BCFB87BF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D86D"/>
                </a:solidFill>
              </a:defRPr>
            </a:pPr>
            <a:r>
              <a:rPr sz="1200" b="1">
                <a:solidFill>
                  <a:srgbClr val="F0D86D"/>
                </a:solidFill>
              </a:rPr>
              <a:t>MAIS EVIDÊNCIAS</a:t>
            </a:r>
          </a:p>
        </p:txBody>
      </p:sp>
      <p:sp>
        <p:nvSpPr>
          <p:cNvPr id="17" name="report-description-1">
            <a:extLst xmlns:a="http://schemas.openxmlformats.org/drawingml/2006/main">
              <a:ext uri="{FF2B5EF4-FFF2-40B4-BE49-F238E27FC236}">
                <a16:creationId xmlns:a16="http://schemas.microsoft.com/office/drawing/2014/main" id="{E3A9BDD4-9D4C-44FF-AB23-8822AEDE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67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7"/>
                </a:solidFill>
              </a:defRPr>
            </a:pPr>
            <a:r>
              <a:rPr sz="1275" b="0">
                <a:solidFill>
                  <a:srgbClr val="F8F5E7"/>
                </a:solidFill>
              </a:rPr>
              <a:t>ordenação por quantidade de vestígios</a:t>
            </a:r>
          </a:p>
        </p:txBody>
      </p:sp>
      <p:sp>
        <p:nvSpPr>
          <p:cNvPr id="18" name="report-name-2">
            <a:extLst xmlns:a="http://schemas.openxmlformats.org/drawingml/2006/main">
              <a:ext uri="{FF2B5EF4-FFF2-40B4-BE49-F238E27FC236}">
                <a16:creationId xmlns:a16="http://schemas.microsoft.com/office/drawing/2014/main" id="{0AD1C641-C150-413E-9F3B-41C04B7E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D86D"/>
                </a:solidFill>
              </a:defRPr>
            </a:pPr>
            <a:r>
              <a:rPr sz="1200" b="1">
                <a:solidFill>
                  <a:srgbClr val="F0D86D"/>
                </a:solidFill>
              </a:rPr>
              <a:t>RECORRÊNCIA</a:t>
            </a:r>
          </a:p>
        </p:txBody>
      </p:sp>
      <p:sp>
        <p:nvSpPr>
          <p:cNvPr id="19" name="report-description-2">
            <a:extLst xmlns:a="http://schemas.openxmlformats.org/drawingml/2006/main">
              <a:ext uri="{FF2B5EF4-FFF2-40B4-BE49-F238E27FC236}">
                <a16:creationId xmlns:a16="http://schemas.microsoft.com/office/drawing/2014/main" id="{2C2C59CC-845F-4084-977A-F71E399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67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7"/>
                </a:solidFill>
              </a:defRPr>
            </a:pPr>
            <a:r>
              <a:rPr sz="1275" b="0">
                <a:solidFill>
                  <a:srgbClr val="F8F5E7"/>
                </a:solidFill>
              </a:rPr>
              <a:t>suspeitos e testemunhas em vários casos</a:t>
            </a:r>
          </a:p>
        </p:txBody>
      </p:sp>
      <p:sp>
        <p:nvSpPr>
          <p:cNvPr id="20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4C116764-1EC6-4E9F-8781-86EB80F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UNSOLVED  •  MYSQL 8</a:t>
            </a:r>
          </a:p>
        </p:txBody>
      </p:sp>
      <p:sp>
        <p:nvSpPr>
          <p:cNvPr id="2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B6ADB88-BFD4-4F0F-A004-04E70793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6067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06  •  Roadmap">
            <a:extLst xmlns:a="http://schemas.openxmlformats.org/drawingml/2006/main">
              <a:ext uri="{FF2B5EF4-FFF2-40B4-BE49-F238E27FC236}">
                <a16:creationId xmlns:a16="http://schemas.microsoft.com/office/drawing/2014/main" id="{EDA83E59-B220-42C3-A900-BA4B173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6220"/>
                </a:solidFill>
              </a:defRPr>
            </a:pPr>
            <a:r>
              <a:rPr sz="1125" b="1">
                <a:solidFill>
                  <a:srgbClr val="8B6220"/>
                </a:solidFill>
              </a:rPr>
              <a:t>06  •  ROADMAP</a:t>
            </a:r>
          </a:p>
        </p:txBody>
      </p:sp>
      <p:sp>
        <p:nvSpPr>
          <p:cNvPr id="2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78579E58-A00A-4955-B3B2-44C13FED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1D12"/>
                </a:solidFill>
              </a:defRPr>
            </a:pPr>
            <a:r>
              <a:rPr sz="3150" b="1">
                <a:solidFill>
                  <a:srgbClr val="201D12"/>
                </a:solidFill>
              </a:rPr>
              <a:t>Entrega honesta, evolução segura</a:t>
            </a:r>
          </a:p>
        </p:txBody>
      </p:sp>
      <p:sp>
        <p:nvSpPr>
          <p:cNvPr id="3" name="roadmap-copy">
            <a:extLst xmlns:a="http://schemas.openxmlformats.org/drawingml/2006/main">
              <a:ext uri="{FF2B5EF4-FFF2-40B4-BE49-F238E27FC236}">
                <a16:creationId xmlns:a16="http://schemas.microsoft.com/office/drawing/2014/main" id="{B2DFB708-67C2-46DF-8147-FE10BFFE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F5E"/>
                </a:solidFill>
              </a:defRPr>
            </a:pPr>
            <a:r>
              <a:rPr sz="1575" b="0">
                <a:solidFill>
                  <a:srgbClr val="756F5E"/>
                </a:solidFill>
              </a:rPr>
              <a:t>O protótipo já comunica o produto; a próxima fase transforma a prova de banco em persistência real.</a:t>
            </a:r>
          </a:p>
        </p:txBody>
      </p:sp>
      <p:cxnSp>
        <p:nvCxnSpPr>
          <p:cNvPr id="24" name="roadmap-line"/>
          <p:cNvCxnSpPr/>
          <p:nvPr/>
        </p:nvCxnSpPr>
        <p:spPr>
          <a:xfrm xmlns:a="http://schemas.openxmlformats.org/drawingml/2006/main">
            <a:off x="1219200" y="297180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220"/>
            </a:solidFill>
            <a:prstDash val="solid"/>
          </a:ln>
        </p:spPr>
      </p:cxnSp>
      <p:sp>
        <p:nvSpPr>
          <p:cNvPr id="5" name="roadmap-node-0">
            <a:extLst xmlns:a="http://schemas.openxmlformats.org/drawingml/2006/main">
              <a:ext uri="{FF2B5EF4-FFF2-40B4-BE49-F238E27FC236}">
                <a16:creationId xmlns:a16="http://schemas.microsoft.com/office/drawing/2014/main" id="{4E182121-75D5-4628-9AFC-F8DCAA2A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86D"/>
          </a:solidFill>
          <a:ln xmlns:a="http://schemas.openxmlformats.org/drawingml/2006/main" w="9525">
            <a:solidFill>
              <a:srgbClr val="F0D86D"/>
            </a:solidFill>
            <a:prstDash val="solid"/>
          </a:ln>
        </p:spPr>
      </p:sp>
      <p:sp>
        <p:nvSpPr>
          <p:cNvPr id="6" name="roadmap-label-0">
            <a:extLst xmlns:a="http://schemas.openxmlformats.org/drawingml/2006/main">
              <a:ext uri="{FF2B5EF4-FFF2-40B4-BE49-F238E27FC236}">
                <a16:creationId xmlns:a16="http://schemas.microsoft.com/office/drawing/2014/main" id="{9656FA8A-115B-43E0-A0A5-627D9947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220"/>
                </a:solidFill>
              </a:defRPr>
            </a:pPr>
            <a:r>
              <a:rPr sz="1200" b="1">
                <a:solidFill>
                  <a:srgbClr val="8B6220"/>
                </a:solidFill>
              </a:rPr>
              <a:t>AGORA</a:t>
            </a:r>
          </a:p>
        </p:txBody>
      </p:sp>
      <p:sp>
        <p:nvSpPr>
          <p:cNvPr id="7" name="roadmap-step-0">
            <a:extLst xmlns:a="http://schemas.openxmlformats.org/drawingml/2006/main">
              <a:ext uri="{FF2B5EF4-FFF2-40B4-BE49-F238E27FC236}">
                <a16:creationId xmlns:a16="http://schemas.microsoft.com/office/drawing/2014/main" id="{89524C19-A5EA-4885-BED6-80BC810B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D12"/>
                </a:solidFill>
              </a:defRPr>
            </a:pPr>
            <a:r>
              <a:rPr sz="1650" b="1">
                <a:solidFill>
                  <a:srgbClr val="201D12"/>
                </a:solidFill>
              </a:rPr>
              <a:t>Schema + seed + consultas</a:t>
            </a:r>
          </a:p>
        </p:txBody>
      </p:sp>
      <p:sp>
        <p:nvSpPr>
          <p:cNvPr id="8" name="roadmap-description-0">
            <a:extLst xmlns:a="http://schemas.openxmlformats.org/drawingml/2006/main">
              <a:ext uri="{FF2B5EF4-FFF2-40B4-BE49-F238E27FC236}">
                <a16:creationId xmlns:a16="http://schemas.microsoft.com/office/drawing/2014/main" id="{E3EF73B2-AA3F-49B4-893A-BF219147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F5E"/>
                </a:solidFill>
              </a:defRPr>
            </a:pPr>
            <a:r>
              <a:rPr sz="1350" b="0">
                <a:solidFill>
                  <a:srgbClr val="756F5E"/>
                </a:solidFill>
              </a:rPr>
              <a:t>Documentação, ERD, Docker e pitch completos.</a:t>
            </a:r>
          </a:p>
        </p:txBody>
      </p:sp>
      <p:sp>
        <p:nvSpPr>
          <p:cNvPr id="9" name="roadmap-node-1">
            <a:extLst xmlns:a="http://schemas.openxmlformats.org/drawingml/2006/main">
              <a:ext uri="{FF2B5EF4-FFF2-40B4-BE49-F238E27FC236}">
                <a16:creationId xmlns:a16="http://schemas.microsoft.com/office/drawing/2014/main" id="{03D3BB3C-BD7A-42BD-98BE-33DAC427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D12"/>
          </a:solidFill>
          <a:ln xmlns:a="http://schemas.openxmlformats.org/drawingml/2006/main" w="9525">
            <a:solidFill>
              <a:srgbClr val="201D12"/>
            </a:solidFill>
            <a:prstDash val="solid"/>
          </a:ln>
        </p:spPr>
      </p:sp>
      <p:sp>
        <p:nvSpPr>
          <p:cNvPr id="10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05ED1EE2-153A-49B0-A254-AD1670DB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220"/>
                </a:solidFill>
              </a:defRPr>
            </a:pPr>
            <a:r>
              <a:rPr sz="1200" b="1">
                <a:solidFill>
                  <a:srgbClr val="8B6220"/>
                </a:solidFill>
              </a:rPr>
              <a:t>PRÓXIMO</a:t>
            </a:r>
          </a:p>
        </p:txBody>
      </p:sp>
      <p:sp>
        <p:nvSpPr>
          <p:cNvPr id="11" name="roadmap-step-1">
            <a:extLst xmlns:a="http://schemas.openxmlformats.org/drawingml/2006/main">
              <a:ext uri="{FF2B5EF4-FFF2-40B4-BE49-F238E27FC236}">
                <a16:creationId xmlns:a16="http://schemas.microsoft.com/office/drawing/2014/main" id="{D0933D27-8673-4D08-8D26-E5CD1A77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D12"/>
                </a:solidFill>
              </a:defRPr>
            </a:pPr>
            <a:r>
              <a:rPr sz="1650" b="1">
                <a:solidFill>
                  <a:srgbClr val="201D12"/>
                </a:solidFill>
              </a:rPr>
              <a:t>Integrar EF Core + MySQL</a:t>
            </a:r>
          </a:p>
        </p:txBody>
      </p:sp>
      <p:sp>
        <p:nvSpPr>
          <p:cNvPr id="12" name="roadmap-description-1">
            <a:extLst xmlns:a="http://schemas.openxmlformats.org/drawingml/2006/main">
              <a:ext uri="{FF2B5EF4-FFF2-40B4-BE49-F238E27FC236}">
                <a16:creationId xmlns:a16="http://schemas.microsoft.com/office/drawing/2014/main" id="{F49399E8-3036-45B2-8366-02E36FD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F5E"/>
                </a:solidFill>
              </a:defRPr>
            </a:pPr>
            <a:r>
              <a:rPr sz="1350" b="0">
                <a:solidFill>
                  <a:srgbClr val="756F5E"/>
                </a:solidFill>
              </a:rPr>
              <a:t>DbContext, entidades, migrations e serviços assíncronos.</a:t>
            </a:r>
          </a:p>
        </p:txBody>
      </p:sp>
      <p:sp>
        <p:nvSpPr>
          <p:cNvPr id="13" name="roadmap-node-2">
            <a:extLst xmlns:a="http://schemas.openxmlformats.org/drawingml/2006/main">
              <a:ext uri="{FF2B5EF4-FFF2-40B4-BE49-F238E27FC236}">
                <a16:creationId xmlns:a16="http://schemas.microsoft.com/office/drawing/2014/main" id="{7D27AD64-5425-47BE-98C6-819C03EB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D12"/>
          </a:solidFill>
          <a:ln xmlns:a="http://schemas.openxmlformats.org/drawingml/2006/main" w="9525">
            <a:solidFill>
              <a:srgbClr val="201D12"/>
            </a:solidFill>
            <a:prstDash val="solid"/>
          </a:ln>
        </p:spPr>
      </p:sp>
      <p:sp>
        <p:nvSpPr>
          <p:cNvPr id="14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103D7876-EA18-4EC0-8D6A-5C4E010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6220"/>
                </a:solidFill>
              </a:defRPr>
            </a:pPr>
            <a:r>
              <a:rPr sz="1200" b="1">
                <a:solidFill>
                  <a:srgbClr val="8B6220"/>
                </a:solidFill>
              </a:rPr>
              <a:t>PRODUÇÃO</a:t>
            </a:r>
          </a:p>
        </p:txBody>
      </p:sp>
      <p:sp>
        <p:nvSpPr>
          <p:cNvPr id="15" name="roadmap-step-2">
            <a:extLst xmlns:a="http://schemas.openxmlformats.org/drawingml/2006/main">
              <a:ext uri="{FF2B5EF4-FFF2-40B4-BE49-F238E27FC236}">
                <a16:creationId xmlns:a16="http://schemas.microsoft.com/office/drawing/2014/main" id="{26E092A0-95F5-408D-8031-32C34F16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D12"/>
                </a:solidFill>
              </a:defRPr>
            </a:pPr>
            <a:r>
              <a:rPr sz="1650" b="1">
                <a:solidFill>
                  <a:srgbClr val="201D12"/>
                </a:solidFill>
              </a:rPr>
              <a:t>Segurança e operação</a:t>
            </a:r>
          </a:p>
        </p:txBody>
      </p:sp>
      <p:sp>
        <p:nvSpPr>
          <p:cNvPr id="16" name="roadmap-description-2">
            <a:extLst xmlns:a="http://schemas.openxmlformats.org/drawingml/2006/main">
              <a:ext uri="{FF2B5EF4-FFF2-40B4-BE49-F238E27FC236}">
                <a16:creationId xmlns:a16="http://schemas.microsoft.com/office/drawing/2014/main" id="{F9856270-B3B5-4AF8-9BCB-E103D180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F5E"/>
                </a:solidFill>
              </a:defRPr>
            </a:pPr>
            <a:r>
              <a:rPr sz="1350" b="0">
                <a:solidFill>
                  <a:srgbClr val="756F5E"/>
                </a:solidFill>
              </a:rPr>
              <a:t>Identity, perfis, auditoria, testes, backup e retenção.</a:t>
            </a:r>
          </a:p>
        </p:txBody>
      </p:sp>
      <p:sp>
        <p:nvSpPr>
          <p:cNvPr id="17" name="roadmap-warning">
            <a:extLst xmlns:a="http://schemas.openxmlformats.org/drawingml/2006/main">
              <a:ext uri="{FF2B5EF4-FFF2-40B4-BE49-F238E27FC236}">
                <a16:creationId xmlns:a16="http://schemas.microsoft.com/office/drawing/2014/main" id="{84F2281F-92BC-4D5C-A564-74FF333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5CDDA"/>
          </a:solidFill>
          <a:ln xmlns:a="http://schemas.openxmlformats.org/drawingml/2006/main" w="0">
            <a:solidFill>
              <a:srgbClr val="B5CDDA"/>
            </a:solidFill>
            <a:prstDash val="solid"/>
          </a:ln>
        </p:spPr>
      </p:sp>
      <p:sp>
        <p:nvSpPr>
          <p:cNvPr id="18" name="roadmap-warning-text">
            <a:extLst xmlns:a="http://schemas.openxmlformats.org/drawingml/2006/main">
              <a:ext uri="{FF2B5EF4-FFF2-40B4-BE49-F238E27FC236}">
                <a16:creationId xmlns:a16="http://schemas.microsoft.com/office/drawing/2014/main" id="{25FB110F-C60C-4E42-B2A9-97AA33C1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1D12"/>
                </a:solidFill>
              </a:defRPr>
            </a:pPr>
            <a:r>
              <a:rPr sz="1350" b="1">
                <a:solidFill>
                  <a:srgbClr val="201D12"/>
                </a:solidFill>
              </a:rPr>
              <a:t>Dados reais só entram depois de autenticação, autorização, auditoria e política de retenção.</a:t>
            </a:r>
          </a:p>
        </p:txBody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28EAABAF-6920-473C-892C-6DCACC9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UNSOLVED  •  MYSQL 8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05C19B7-CC6E-4FA4-A5AF-F7653E6B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5E"/>
                </a:solidFill>
              </a:defRPr>
            </a:pPr>
            <a:r>
              <a:rPr sz="975" b="1">
                <a:solidFill>
                  <a:srgbClr val="756F5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2224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1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Chamada para ação">
            <a:extLst xmlns:a="http://schemas.openxmlformats.org/drawingml/2006/main">
              <a:ext uri="{FF2B5EF4-FFF2-40B4-BE49-F238E27FC236}">
                <a16:creationId xmlns:a16="http://schemas.microsoft.com/office/drawing/2014/main" id="{1CAA772C-7D51-460A-B455-D2FF1E2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D86D"/>
                </a:solidFill>
              </a:defRPr>
            </a:pPr>
            <a:r>
              <a:rPr sz="1125" b="1">
                <a:solidFill>
                  <a:srgbClr val="F0D86D"/>
                </a:solidFill>
              </a:rPr>
              <a:t>CHAMADA PARA AÇÃO</a:t>
            </a:r>
          </a:p>
        </p:txBody>
      </p:sp>
      <p:sp>
        <p:nvSpPr>
          <p:cNvPr id="2" name="cta-title">
            <a:extLst xmlns:a="http://schemas.openxmlformats.org/drawingml/2006/main">
              <a:ext uri="{FF2B5EF4-FFF2-40B4-BE49-F238E27FC236}">
                <a16:creationId xmlns:a16="http://schemas.microsoft.com/office/drawing/2014/main" id="{BE887951-442E-473A-A9D0-B434C26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Vamos conectar a demo ao MySQL?</a:t>
            </a:r>
          </a:p>
        </p:txBody>
      </p:sp>
      <p:sp>
        <p:nvSpPr>
          <p:cNvPr id="3" name="cta-copy">
            <a:extLst xmlns:a="http://schemas.openxmlformats.org/drawingml/2006/main">
              <a:ext uri="{FF2B5EF4-FFF2-40B4-BE49-F238E27FC236}">
                <a16:creationId xmlns:a16="http://schemas.microsoft.com/office/drawing/2014/main" id="{27535B99-18BC-4A4C-A2B7-31D3B94F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5CDDA"/>
                </a:solidFill>
              </a:defRPr>
            </a:pPr>
            <a:r>
              <a:rPr sz="1800" b="0">
                <a:solidFill>
                  <a:srgbClr val="B5CDDA"/>
                </a:solidFill>
              </a:rPr>
              <a:t>A base está pronta para validar o conceito, demonstrar as consultas e iniciar a integração com segurança.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75c2f4d7c41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895350"/>
            <a:ext cx="2876550" cy="2876550"/>
          </a:xfrm>
          <a:prstGeom xmlns:a="http://schemas.openxmlformats.org/drawingml/2006/main" prst="roundRect">
            <a:avLst>
              <a:gd name="adj" fmla="val 5298"/>
            </a:avLst>
          </a:prstGeom>
        </p:spPr>
      </p:pic>
      <p:sp>
        <p:nvSpPr>
          <p:cNvPr id="5" name="cta-chip-0">
            <a:extLst xmlns:a="http://schemas.openxmlformats.org/drawingml/2006/main">
              <a:ext uri="{FF2B5EF4-FFF2-40B4-BE49-F238E27FC236}">
                <a16:creationId xmlns:a16="http://schemas.microsoft.com/office/drawing/2014/main" id="{539DF2B4-0375-4B8E-9E17-EEF83A5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47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B6220"/>
          </a:solidFill>
          <a:ln xmlns:a="http://schemas.openxmlformats.org/drawingml/2006/main" w="0">
            <a:solidFill>
              <a:srgbClr val="8B6220"/>
            </a:solidFill>
            <a:prstDash val="solid"/>
          </a:ln>
        </p:spPr>
      </p:sp>
      <p:sp>
        <p:nvSpPr>
          <p:cNvPr id="6" name="cta-chip-text-0">
            <a:extLst xmlns:a="http://schemas.openxmlformats.org/drawingml/2006/main">
              <a:ext uri="{FF2B5EF4-FFF2-40B4-BE49-F238E27FC236}">
                <a16:creationId xmlns:a16="http://schemas.microsoft.com/office/drawing/2014/main" id="{F84CA138-CED8-4AA3-888B-B3246F33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APROVAR O MODELO</a:t>
            </a:r>
          </a:p>
        </p:txBody>
      </p:sp>
      <p:sp>
        <p:nvSpPr>
          <p:cNvPr id="7" name="cta-chip-1">
            <a:extLst xmlns:a="http://schemas.openxmlformats.org/drawingml/2006/main">
              <a:ext uri="{FF2B5EF4-FFF2-40B4-BE49-F238E27FC236}">
                <a16:creationId xmlns:a16="http://schemas.microsoft.com/office/drawing/2014/main" id="{2B6DD52C-CE77-4A0A-BCA8-1B0BB61B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247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B6220"/>
          </a:solidFill>
          <a:ln xmlns:a="http://schemas.openxmlformats.org/drawingml/2006/main" w="0">
            <a:solidFill>
              <a:srgbClr val="8B6220"/>
            </a:solidFill>
            <a:prstDash val="solid"/>
          </a:ln>
        </p:spPr>
      </p:sp>
      <p:sp>
        <p:nvSpPr>
          <p:cNvPr id="8" name="cta-chip-text-1">
            <a:extLst xmlns:a="http://schemas.openxmlformats.org/drawingml/2006/main">
              <a:ext uri="{FF2B5EF4-FFF2-40B4-BE49-F238E27FC236}">
                <a16:creationId xmlns:a16="http://schemas.microsoft.com/office/drawing/2014/main" id="{6951B878-C1EB-4E1E-87A2-82C84AB4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767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EXECUTAR AS CONSULTAS</a:t>
            </a:r>
          </a:p>
        </p:txBody>
      </p:sp>
      <p:sp>
        <p:nvSpPr>
          <p:cNvPr id="9" name="cta-chip-2">
            <a:extLst xmlns:a="http://schemas.openxmlformats.org/drawingml/2006/main">
              <a:ext uri="{FF2B5EF4-FFF2-40B4-BE49-F238E27FC236}">
                <a16:creationId xmlns:a16="http://schemas.microsoft.com/office/drawing/2014/main" id="{FB7BC3B3-1ACB-404E-BEA6-0C6780C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2450"/>
            <a:ext cx="247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D86D"/>
          </a:solidFill>
          <a:ln xmlns:a="http://schemas.openxmlformats.org/drawingml/2006/main" w="0">
            <a:solidFill>
              <a:srgbClr val="F0D86D"/>
            </a:solidFill>
            <a:prstDash val="solid"/>
          </a:ln>
        </p:spPr>
      </p:sp>
      <p:sp>
        <p:nvSpPr>
          <p:cNvPr id="10" name="cta-chip-text-2">
            <a:extLst xmlns:a="http://schemas.openxmlformats.org/drawingml/2006/main">
              <a:ext uri="{FF2B5EF4-FFF2-40B4-BE49-F238E27FC236}">
                <a16:creationId xmlns:a16="http://schemas.microsoft.com/office/drawing/2014/main" id="{633E721C-23F3-467A-A4BE-1AB56BF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1D12"/>
                </a:solidFill>
              </a:defRPr>
            </a:pPr>
            <a:r>
              <a:rPr sz="1125" b="1">
                <a:solidFill>
                  <a:srgbClr val="201D12"/>
                </a:solidFill>
              </a:rPr>
              <a:t>INICIAR A INTEGRAÇÃO</a:t>
            </a:r>
          </a:p>
        </p:txBody>
      </p:sp>
      <p:sp>
        <p:nvSpPr>
          <p:cNvPr id="11" name="cta-slogan">
            <a:extLst xmlns:a="http://schemas.openxmlformats.org/drawingml/2006/main">
              <a:ext uri="{FF2B5EF4-FFF2-40B4-BE49-F238E27FC236}">
                <a16:creationId xmlns:a16="http://schemas.microsoft.com/office/drawing/2014/main" id="{E41E6E2E-14B4-4711-870B-475C935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5E7"/>
                </a:solidFill>
              </a:defRPr>
            </a:pPr>
            <a:r>
              <a:rPr sz="2100" b="1">
                <a:solidFill>
                  <a:srgbClr val="F8F5E7"/>
                </a:solidFill>
              </a:rPr>
              <a:t>Pistas conectadas. Respostas possíveis.</a:t>
            </a:r>
          </a:p>
        </p:txBody>
      </p:sp>
      <p:sp>
        <p:nvSpPr>
          <p:cNvPr id="12" name="cta-team">
            <a:extLst xmlns:a="http://schemas.openxmlformats.org/drawingml/2006/main">
              <a:ext uri="{FF2B5EF4-FFF2-40B4-BE49-F238E27FC236}">
                <a16:creationId xmlns:a16="http://schemas.microsoft.com/office/drawing/2014/main" id="{D076E777-8E41-4760-8432-CCC8A0D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197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D86D"/>
                </a:solidFill>
              </a:defRPr>
            </a:pPr>
            <a:r>
              <a:rPr sz="1350" b="1">
                <a:solidFill>
                  <a:srgbClr val="F0D86D"/>
                </a:solidFill>
              </a:rPr>
              <a:t>Os Estagiários  •  Unsolved</a:t>
            </a:r>
          </a:p>
        </p:txBody>
      </p:sp>
      <p:sp>
        <p:nvSpPr>
          <p:cNvPr id="1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1E59C6F3-7E2C-404B-9BE1-96CFC9C8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EE8CE"/>
                </a:solidFill>
              </a:defRPr>
            </a:pPr>
            <a:r>
              <a:rPr sz="975" b="1">
                <a:solidFill>
                  <a:srgbClr val="EEE8CE"/>
                </a:solidFill>
              </a:rPr>
              <a:t>UNSOLVED  •  MYSQL 8</a:t>
            </a:r>
          </a:p>
        </p:txBody>
      </p:sp>
      <p:sp>
        <p:nvSpPr>
          <p:cNvPr id="1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5E0A3DC9-BEFB-4B54-9271-5CC56810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EE8CE"/>
                </a:solidFill>
              </a:defRPr>
            </a:pPr>
            <a:r>
              <a:rPr sz="975" b="1">
                <a:solidFill>
                  <a:srgbClr val="EEE8C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8087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2026-07-18T17:45:04.6940000Z</dcterms:created>
  <dcterms:modified xsi:type="dcterms:W3CDTF">2026-07-18T17:45:04.6950000Z</dcterms:modified>
</coreProperties>
</file>